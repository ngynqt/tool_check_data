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69" r:id="rId4"/>
    <p:sldId id="270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13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1" d="100"/>
          <a:sy n="71" d="100"/>
        </p:scale>
        <p:origin x="1140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A825AC-E31A-44D5-9386-DFF38064E813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92F53-7E5C-450A-A5A4-BC21361A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221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53EE96-6FF1-2240-874D-C44C114CEBEF}" type="slidenum">
              <a:rPr lang="en-VN" smtClean="0"/>
              <a:t>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94353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59EEC-693C-D7C4-050D-F246DE7DF4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15F0B-20A7-C7BF-EE83-DB7EA2DB9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C3C48-90BF-9825-B548-BEE84C9A4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172B3-3E86-424B-B0FA-D6EAE63490B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FBA2C-3531-1967-FCCF-5830EB236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22B00-C268-BE70-6272-12E055D8E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168A9-1877-4BA8-A780-85174AD37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28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D1E2E-6C17-E5AC-C345-1B7535670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222A3-2076-48DD-EE76-1E984A9EA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A1729-2B15-8492-15CF-9F19A77DB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172B3-3E86-424B-B0FA-D6EAE63490B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249F0-3EE1-EBE9-6DDD-6220CCD6F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0A9B8-4864-C36E-887F-82771E3E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168A9-1877-4BA8-A780-85174AD37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08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5C0F0-470A-6DC8-30E0-1A9088B8B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DBDDF-AA5C-EE02-2C3A-805A77CBE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9E5E8-5486-E62A-5D6D-68F1205E0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172B3-3E86-424B-B0FA-D6EAE63490B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B706C-733F-E330-F00C-29B2D74AB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C06AE-6508-4989-C305-E3342CF0D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168A9-1877-4BA8-A780-85174AD37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675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9FB86-5BB6-1237-6842-BF220BAB6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C1625-6FE3-C2B5-CB70-25779FC94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0C0E-A25D-85B8-6494-2BDA51F69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A87114-0357-0914-5C5B-6C6F1511A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172B3-3E86-424B-B0FA-D6EAE63490B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2D43D-E5C2-184F-9A6C-05BAFB12D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5F5DF-BD4A-0C6D-825C-23816CF1B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168A9-1877-4BA8-A780-85174AD37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482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11594-D843-5C84-EE20-BE8988D40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616C4-67CB-994E-FF60-92FE9ABFE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D5ECF-42C9-DDD5-0ECB-CBEFFF23F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C9A27-E335-BE79-9777-E7F4BC6FC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E1E7EC-C160-DFB3-FCAA-1B8EB9E86A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F8A0F-A273-CDC6-84C0-D8E3D8871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172B3-3E86-424B-B0FA-D6EAE63490B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6B215C-8EEC-0FBB-4260-11D2D75F3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C9AA93-675A-870C-A1D6-7061E0F65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168A9-1877-4BA8-A780-85174AD37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852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DC8C9-D382-F659-444E-18E584E20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8EF748-3A5D-9562-5BB7-A5CA3DF26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172B3-3E86-424B-B0FA-D6EAE63490B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15FF3B-5D73-EFE7-D8FF-61FCD29B9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A339FF-C310-4C60-EBC3-2E5D1FF86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168A9-1877-4BA8-A780-85174AD37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282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781A55-5DB1-F23D-EA21-E7B08D8E3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172B3-3E86-424B-B0FA-D6EAE63490B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C2E678-DAF5-5418-D795-D4A6DA062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F00DD-CF6C-78B2-50D4-F68C9461D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168A9-1877-4BA8-A780-85174AD37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207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5E2E6-BC7C-FA6A-7482-F472FEB4C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C58DE-0A25-AF07-DCBC-40481EAE8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A931A-3E78-4E9B-D492-F2850C4E3E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8039CC-9AA3-7C7C-6FC4-ECBFB3353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172B3-3E86-424B-B0FA-D6EAE63490B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98076-2318-3D6D-0E55-82F3313DA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B5C13-EDED-1266-AA30-9A5A9F26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168A9-1877-4BA8-A780-85174AD37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115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6BE02-0752-FFC7-B246-71840C0DB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A63AD8-3393-C6FE-88C9-32C473CE5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B3329-0116-648C-DD39-966F97C2F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0717D-7707-D9D9-3142-C4F3AEA8C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172B3-3E86-424B-B0FA-D6EAE63490B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EFCF76-406A-CD04-21EB-4ABAD207E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53221-E8A3-185F-0CB6-BD80A9A12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168A9-1877-4BA8-A780-85174AD37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89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29F13-34B9-5747-044B-F016CED3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A608A-96D3-6477-ABC4-52629DDCA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0C446-B6A4-98B8-4A5D-C2B842967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172B3-3E86-424B-B0FA-D6EAE63490B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61B30-4240-161C-C9DC-CFA77A322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D15DD-7A5D-3B9A-4B10-746E4ED8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168A9-1877-4BA8-A780-85174AD37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075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85D3D3-9F73-8F8B-8C5D-AA46892DC1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0C022A-A08B-B1B2-BD4C-918A08E86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40391-2982-AE72-A2AF-7EB16FBA8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172B3-3E86-424B-B0FA-D6EAE63490B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03682-BF86-739D-687F-03643857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04E8E-DCFE-08D5-4DB6-DDB772F96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168A9-1877-4BA8-A780-85174AD37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245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74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7FF46B-BB43-8771-84A8-258FAB829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0A8EC-8B89-0778-C1C3-C9D0EABA4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A0FAA-BDC2-72DB-BC1F-9FA802CBCD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9172B3-3E86-424B-B0FA-D6EAE63490B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2E9C7-043A-FF19-B867-08C68F3579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94F6-5A4A-BD72-5BB1-A67A476CF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1168A9-1877-4BA8-A780-85174AD37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4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aia.com.vn/vi/song-khoe/loi-khuyen/tai-chinh/dau-tu-ngoai-hoi-la-gi.html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hlinkClick r:id="rId2"/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53968" y="2658105"/>
            <a:ext cx="10436423" cy="6950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4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FOREX CƠ BẢN CHO NGƯỜI </a:t>
            </a:r>
            <a:r>
              <a:rPr sz="4400" b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MỚI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55216" y="3525489"/>
            <a:ext cx="5033925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spc="11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Khám phá</a:t>
            </a:r>
            <a:r>
              <a:rPr sz="250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thị </a:t>
            </a:r>
            <a:r>
              <a:rPr sz="2500" spc="1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sz="250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00" spc="1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ngoại</a:t>
            </a:r>
            <a:r>
              <a:rPr sz="250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00" spc="1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hối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624392" y="6011273"/>
            <a:ext cx="2297847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Louis Don</a:t>
            </a:r>
            <a:endParaRPr sz="2000" dirty="0">
              <a:solidFill>
                <a:srgbClr val="D1D5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2485" y="188640"/>
            <a:ext cx="4062716" cy="5468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2800" b="1" spc="-14" dirty="0">
                <a:solidFill>
                  <a:srgbClr val="FFFFFF"/>
                </a:solidFill>
                <a:cs typeface="DejaVu Sans"/>
              </a:rPr>
              <a:t>FOREX</a:t>
            </a:r>
            <a:r>
              <a:rPr sz="2800" b="1" dirty="0">
                <a:solidFill>
                  <a:srgbClr val="FFFFFF"/>
                </a:solidFill>
                <a:cs typeface="DejaVu Sans"/>
              </a:rPr>
              <a:t> </a:t>
            </a:r>
            <a:r>
              <a:rPr sz="2800" b="1" spc="-11" dirty="0">
                <a:solidFill>
                  <a:srgbClr val="FFFFFF"/>
                </a:solidFill>
                <a:cs typeface="DejaVu Sans"/>
              </a:rPr>
              <a:t>LÀ</a:t>
            </a:r>
            <a:r>
              <a:rPr sz="2800" b="1" dirty="0">
                <a:solidFill>
                  <a:srgbClr val="FFFFFF"/>
                </a:solidFill>
                <a:cs typeface="DejaVu Sans"/>
              </a:rPr>
              <a:t> </a:t>
            </a:r>
            <a:r>
              <a:rPr sz="2800" b="1" spc="-10" dirty="0">
                <a:solidFill>
                  <a:srgbClr val="FFFFFF"/>
                </a:solidFill>
                <a:cs typeface="DejaVu Sans"/>
              </a:rPr>
              <a:t>GÌ?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5320" y="857993"/>
            <a:ext cx="2106603" cy="3466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cs typeface="DejaVu Sans"/>
              </a:rPr>
              <a:t>Định</a:t>
            </a:r>
            <a:r>
              <a:rPr sz="2000" b="1" dirty="0">
                <a:solidFill>
                  <a:srgbClr val="FFFFFF"/>
                </a:solidFill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cs typeface="DejaVu Sans"/>
              </a:rPr>
              <a:t>nghĩa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37113" y="857993"/>
            <a:ext cx="3203348" cy="3466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4" dirty="0">
                <a:solidFill>
                  <a:srgbClr val="FFFFFF"/>
                </a:solidFill>
                <a:cs typeface="DejaVu Sans"/>
              </a:rPr>
              <a:t>Đặc</a:t>
            </a:r>
            <a:r>
              <a:rPr sz="2000" b="1" dirty="0">
                <a:solidFill>
                  <a:srgbClr val="FFFFFF"/>
                </a:solidFill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cs typeface="DejaVu Sans"/>
              </a:rPr>
              <a:t>điểm</a:t>
            </a:r>
            <a:r>
              <a:rPr sz="2000" b="1" spc="15" dirty="0">
                <a:solidFill>
                  <a:srgbClr val="FFFFFF"/>
                </a:solidFill>
                <a:cs typeface="DejaVu Sans"/>
              </a:rPr>
              <a:t> </a:t>
            </a:r>
            <a:r>
              <a:rPr sz="2000" b="1" spc="12" dirty="0">
                <a:solidFill>
                  <a:srgbClr val="FFFFFF"/>
                </a:solidFill>
                <a:cs typeface="DejaVu Sans"/>
              </a:rPr>
              <a:t>nổi</a:t>
            </a:r>
            <a:r>
              <a:rPr sz="2000" b="1" dirty="0">
                <a:solidFill>
                  <a:srgbClr val="FFFFFF"/>
                </a:solidFill>
                <a:cs typeface="DejaVu Sans"/>
              </a:rPr>
              <a:t> </a:t>
            </a:r>
            <a:r>
              <a:rPr sz="2000" b="1" spc="12" dirty="0">
                <a:solidFill>
                  <a:srgbClr val="FFFFFF"/>
                </a:solidFill>
                <a:cs typeface="DejaVu Sans"/>
              </a:rPr>
              <a:t>bật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5320" y="1459184"/>
            <a:ext cx="4870362" cy="22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67E8F9"/>
                </a:solidFill>
                <a:cs typeface="DejaVu Sans"/>
              </a:rPr>
              <a:t>FOREX</a:t>
            </a:r>
            <a:r>
              <a:rPr sz="1400" b="1" spc="-40" dirty="0">
                <a:solidFill>
                  <a:srgbClr val="67E8F9"/>
                </a:solidFill>
                <a:cs typeface="DejaVu Sans"/>
              </a:rPr>
              <a:t> </a:t>
            </a:r>
            <a:r>
              <a:rPr sz="1400" dirty="0">
                <a:solidFill>
                  <a:srgbClr val="D1D5DB"/>
                </a:solidFill>
                <a:cs typeface="DejaVu Sans"/>
              </a:rPr>
              <a:t>là viết tắt của </a:t>
            </a:r>
            <a:r>
              <a:rPr sz="1400" b="1" dirty="0">
                <a:solidFill>
                  <a:srgbClr val="67E8F9"/>
                </a:solidFill>
                <a:cs typeface="DejaVu Sans"/>
              </a:rPr>
              <a:t>FOREIGN EXCHANGE</a:t>
            </a:r>
            <a:r>
              <a:rPr sz="1400" dirty="0">
                <a:solidFill>
                  <a:srgbClr val="D1D5DB"/>
                </a:solidFill>
                <a:cs typeface="DejaVu Sans"/>
              </a:rPr>
              <a:t>, có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05919" y="1463394"/>
            <a:ext cx="4048472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5EEAD4"/>
                </a:solidFill>
                <a:cs typeface="DejaVu Sans"/>
              </a:rPr>
              <a:t>THANH</a:t>
            </a:r>
            <a:r>
              <a:rPr sz="1700" b="1" dirty="0">
                <a:solidFill>
                  <a:srgbClr val="5EEAD4"/>
                </a:solidFill>
                <a:cs typeface="DejaVu Sans"/>
              </a:rPr>
              <a:t> </a:t>
            </a:r>
            <a:r>
              <a:rPr sz="1700" b="1" spc="-17" dirty="0">
                <a:solidFill>
                  <a:srgbClr val="5EEAD4"/>
                </a:solidFill>
                <a:cs typeface="DejaVu Sans"/>
              </a:rPr>
              <a:t>KHOẢN</a:t>
            </a:r>
            <a:r>
              <a:rPr sz="1700" b="1" dirty="0">
                <a:solidFill>
                  <a:srgbClr val="5EEAD4"/>
                </a:solidFill>
                <a:cs typeface="DejaVu Sans"/>
              </a:rPr>
              <a:t> </a:t>
            </a:r>
            <a:r>
              <a:rPr sz="1700" b="1" spc="-12" dirty="0">
                <a:solidFill>
                  <a:srgbClr val="5EEAD4"/>
                </a:solidFill>
                <a:cs typeface="DejaVu Sans"/>
              </a:rPr>
              <a:t>cao</a:t>
            </a:r>
            <a:r>
              <a:rPr sz="1700" b="1" dirty="0">
                <a:solidFill>
                  <a:srgbClr val="5EEAD4"/>
                </a:solidFill>
                <a:cs typeface="DejaVu Sans"/>
              </a:rPr>
              <a:t> </a:t>
            </a:r>
            <a:r>
              <a:rPr sz="1700" b="1" spc="-14" dirty="0">
                <a:solidFill>
                  <a:srgbClr val="5EEAD4"/>
                </a:solidFill>
                <a:cs typeface="DejaVu Sans"/>
              </a:rPr>
              <a:t>nhất</a:t>
            </a:r>
            <a:r>
              <a:rPr sz="1700" b="1" dirty="0">
                <a:solidFill>
                  <a:srgbClr val="5EEAD4"/>
                </a:solidFill>
                <a:cs typeface="DejaVu Sans"/>
              </a:rPr>
              <a:t> </a:t>
            </a:r>
            <a:r>
              <a:rPr sz="1700" b="1" spc="-11" dirty="0">
                <a:solidFill>
                  <a:srgbClr val="5EEAD4"/>
                </a:solidFill>
                <a:cs typeface="DejaVu Sans"/>
              </a:rPr>
              <a:t>thế</a:t>
            </a:r>
            <a:r>
              <a:rPr sz="1700" b="1" dirty="0">
                <a:solidFill>
                  <a:srgbClr val="5EEAD4"/>
                </a:solidFill>
                <a:cs typeface="DejaVu Sans"/>
              </a:rPr>
              <a:t> </a:t>
            </a:r>
            <a:r>
              <a:rPr sz="1700" b="1" spc="-11" dirty="0">
                <a:solidFill>
                  <a:srgbClr val="5EEAD4"/>
                </a:solidFill>
                <a:cs typeface="DejaVu Sans"/>
              </a:rPr>
              <a:t>giới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9933" y="1663768"/>
            <a:ext cx="4738569" cy="22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1D5DB"/>
                </a:solidFill>
                <a:cs typeface="DejaVu Sans"/>
              </a:rPr>
              <a:t>nghĩa là trao đổi tiền tệ, ngoại tệ hay ngoại hối.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37113" y="1865417"/>
            <a:ext cx="4965926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cs typeface="DejaVu Sans"/>
              </a:rPr>
              <a:t>Là thị trường tài chính có tính thanh khoản cao nhất, với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cs typeface="DejaVu Sans"/>
              </a:rPr>
              <a:t>khối lượng giao dịch hàng ngày cực lớn.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9235" y="1884474"/>
            <a:ext cx="4951530" cy="22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1D5DB"/>
                </a:solidFill>
                <a:cs typeface="DejaVu Sans"/>
              </a:rPr>
              <a:t>Thường được viết gọn là </a:t>
            </a:r>
            <a:r>
              <a:rPr sz="1400" b="1" dirty="0">
                <a:solidFill>
                  <a:srgbClr val="67E8F9"/>
                </a:solidFill>
                <a:cs typeface="DejaVu Sans"/>
              </a:rPr>
              <a:t>FOREX</a:t>
            </a:r>
            <a:r>
              <a:rPr sz="1400" dirty="0">
                <a:solidFill>
                  <a:srgbClr val="D1D5DB"/>
                </a:solidFill>
                <a:cs typeface="DejaVu Sans"/>
              </a:rPr>
              <a:t>, </a:t>
            </a:r>
            <a:r>
              <a:rPr sz="1400" b="1" dirty="0">
                <a:solidFill>
                  <a:srgbClr val="67E8F9"/>
                </a:solidFill>
                <a:cs typeface="DejaVu Sans"/>
              </a:rPr>
              <a:t>FX</a:t>
            </a:r>
            <a:r>
              <a:rPr sz="1400" b="1" spc="-40" dirty="0">
                <a:solidFill>
                  <a:srgbClr val="67E8F9"/>
                </a:solidFill>
                <a:cs typeface="DejaVu Sans"/>
              </a:rPr>
              <a:t> </a:t>
            </a:r>
            <a:r>
              <a:rPr sz="1400" dirty="0">
                <a:solidFill>
                  <a:srgbClr val="D1D5DB"/>
                </a:solidFill>
                <a:cs typeface="DejaVu Sans"/>
              </a:rPr>
              <a:t>hay </a:t>
            </a:r>
            <a:r>
              <a:rPr sz="1400" b="1" dirty="0">
                <a:solidFill>
                  <a:srgbClr val="67E8F9"/>
                </a:solidFill>
                <a:cs typeface="DejaVu Sans"/>
              </a:rPr>
              <a:t>spotFX</a:t>
            </a:r>
            <a:r>
              <a:rPr sz="1400" dirty="0">
                <a:solidFill>
                  <a:srgbClr val="D1D5DB"/>
                </a:solidFill>
                <a:cs typeface="DejaVu Sans"/>
              </a:rPr>
              <a:t>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2485" y="2474433"/>
            <a:ext cx="5269469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9CA3AF"/>
                </a:solidFill>
                <a:cs typeface="DejaVu Sans"/>
              </a:rPr>
              <a:t>"Thị trường ngoại hối </a:t>
            </a:r>
            <a:r>
              <a:rPr sz="1350" spc="-20" dirty="0">
                <a:solidFill>
                  <a:srgbClr val="9CA3AF"/>
                </a:solidFill>
                <a:cs typeface="DejaVu Sans"/>
              </a:rPr>
              <a:t>(Forex)</a:t>
            </a:r>
            <a:r>
              <a:rPr sz="1350" spc="15" dirty="0">
                <a:solidFill>
                  <a:srgbClr val="9CA3AF"/>
                </a:solidFill>
                <a:cs typeface="DejaVu Sans"/>
              </a:rPr>
              <a:t> </a:t>
            </a:r>
            <a:r>
              <a:rPr sz="1350" dirty="0">
                <a:solidFill>
                  <a:srgbClr val="9CA3AF"/>
                </a:solidFill>
                <a:cs typeface="DejaVu Sans"/>
              </a:rPr>
              <a:t>là một thị trường toàn cầu, phi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9CA3AF"/>
                </a:solidFill>
                <a:cs typeface="DejaVu Sans"/>
              </a:rPr>
              <a:t>tập trung và là nơi các loại tiền tệ được mua và bán."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437113" y="2769670"/>
            <a:ext cx="1998586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5EEAD4"/>
                </a:solidFill>
                <a:cs typeface="DejaVu Sans"/>
              </a:rPr>
              <a:t>Hoạt</a:t>
            </a:r>
            <a:r>
              <a:rPr sz="1700" b="1" dirty="0">
                <a:solidFill>
                  <a:srgbClr val="5EEAD4"/>
                </a:solidFill>
                <a:cs typeface="DejaVu Sans"/>
              </a:rPr>
              <a:t> </a:t>
            </a:r>
            <a:r>
              <a:rPr sz="1700" b="1" spc="-15" dirty="0">
                <a:solidFill>
                  <a:srgbClr val="5EEAD4"/>
                </a:solidFill>
                <a:cs typeface="DejaVu Sans"/>
              </a:rPr>
              <a:t>động</a:t>
            </a:r>
            <a:r>
              <a:rPr sz="1700" b="1" dirty="0">
                <a:solidFill>
                  <a:srgbClr val="5EEAD4"/>
                </a:solidFill>
                <a:cs typeface="DejaVu Sans"/>
              </a:rPr>
              <a:t> </a:t>
            </a:r>
            <a:r>
              <a:rPr sz="1700" b="1" spc="-11" dirty="0">
                <a:solidFill>
                  <a:srgbClr val="5EEAD4"/>
                </a:solidFill>
                <a:cs typeface="DejaVu Sans"/>
              </a:rPr>
              <a:t>24/5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32485" y="3169462"/>
            <a:ext cx="5155767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9CA3AF"/>
                </a:solidFill>
                <a:cs typeface="DejaVu Sans"/>
              </a:rPr>
              <a:t>"Đây là nơi diễn ra các hoạt động trao đổi tiền tệ của các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9CA3AF"/>
                </a:solidFill>
                <a:cs typeface="DejaVu Sans"/>
              </a:rPr>
              <a:t>quốc gia thông qua hệ thống ngân hàng và các tổ chức tín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405919" y="3176573"/>
            <a:ext cx="5175973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cs typeface="DejaVu Sans"/>
              </a:rPr>
              <a:t>Thị trường hoạt động liên tục 24 giờ một ngày, 5 ngày một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cs typeface="DejaVu Sans"/>
              </a:rPr>
              <a:t>tuần, cho phép giao dịch mọi lúc, mọi nơi.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590765" y="3416445"/>
            <a:ext cx="718220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9CA3AF"/>
                </a:solidFill>
                <a:cs typeface="DejaVu Sans"/>
              </a:rPr>
              <a:t>dụng."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437113" y="4149080"/>
            <a:ext cx="3676613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5EEAD4"/>
                </a:solidFill>
                <a:cs typeface="DejaVu Sans"/>
              </a:rPr>
              <a:t>Phi</a:t>
            </a:r>
            <a:r>
              <a:rPr sz="1700" b="1" dirty="0">
                <a:solidFill>
                  <a:srgbClr val="5EEAD4"/>
                </a:solidFill>
                <a:cs typeface="DejaVu Sans"/>
              </a:rPr>
              <a:t> </a:t>
            </a:r>
            <a:r>
              <a:rPr sz="1700" b="1" spc="-11" dirty="0">
                <a:solidFill>
                  <a:srgbClr val="5EEAD4"/>
                </a:solidFill>
                <a:cs typeface="DejaVu Sans"/>
              </a:rPr>
              <a:t>tập</a:t>
            </a:r>
            <a:r>
              <a:rPr sz="1700" b="1" spc="-10" dirty="0">
                <a:solidFill>
                  <a:srgbClr val="5EEAD4"/>
                </a:solidFill>
                <a:cs typeface="DejaVu Sans"/>
              </a:rPr>
              <a:t> </a:t>
            </a:r>
            <a:r>
              <a:rPr sz="1700" b="1" spc="-11" dirty="0">
                <a:solidFill>
                  <a:srgbClr val="5EEAD4"/>
                </a:solidFill>
                <a:cs typeface="DejaVu Sans"/>
              </a:rPr>
              <a:t>trung</a:t>
            </a:r>
            <a:r>
              <a:rPr sz="1700" b="1" spc="-10" dirty="0">
                <a:solidFill>
                  <a:srgbClr val="5EEAD4"/>
                </a:solidFill>
                <a:cs typeface="DejaVu Sans"/>
              </a:rPr>
              <a:t> </a:t>
            </a:r>
            <a:r>
              <a:rPr sz="1700" b="1" spc="-11" dirty="0">
                <a:solidFill>
                  <a:srgbClr val="5EEAD4"/>
                </a:solidFill>
                <a:cs typeface="DejaVu Sans"/>
              </a:rPr>
              <a:t>(Decentralized)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405919" y="4456049"/>
            <a:ext cx="5110794" cy="718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cs typeface="DejaVu Sans"/>
              </a:rPr>
              <a:t>Giao dịch không diễn ra </a:t>
            </a:r>
            <a:r>
              <a:rPr sz="1350" spc="-12" dirty="0">
                <a:solidFill>
                  <a:srgbClr val="D1D5DB"/>
                </a:solidFill>
                <a:cs typeface="DejaVu Sans"/>
              </a:rPr>
              <a:t>trên</a:t>
            </a:r>
            <a:r>
              <a:rPr sz="1350" dirty="0">
                <a:solidFill>
                  <a:srgbClr val="D1D5DB"/>
                </a:solidFill>
                <a:cs typeface="DejaVu Sans"/>
              </a:rPr>
              <a:t> một sàn giao dịch tập trung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cs typeface="DejaVu Sans"/>
              </a:rPr>
              <a:t>mà thông qua mạng lưới toàn cầu của các ngân hàng, tập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cs typeface="DejaVu Sans"/>
              </a:rPr>
              <a:t>đoàn và cá nhân.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780552" y="5909086"/>
            <a:ext cx="2932072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cs typeface="DejaVu Sans"/>
              </a:rPr>
              <a:t>THANH KHOẢN CAO</a:t>
            </a:r>
            <a:r>
              <a:rPr lang="vi-VN" sz="1500" b="1" dirty="0">
                <a:solidFill>
                  <a:srgbClr val="FFFFFF"/>
                </a:solidFill>
                <a:cs typeface="DejaVu Sans"/>
              </a:rPr>
              <a:t> N</a:t>
            </a:r>
            <a:r>
              <a:rPr sz="1500" b="1" spc="10" dirty="0">
                <a:solidFill>
                  <a:srgbClr val="FFFFFF"/>
                </a:solidFill>
                <a:cs typeface="DejaVu Sans"/>
              </a:rPr>
              <a:t>HẤT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199456" y="5869193"/>
            <a:ext cx="23541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cs typeface="DejaVu Sans"/>
              </a:rPr>
              <a:t>FOREIGN EXCHANGE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966568" y="5883344"/>
            <a:ext cx="2684834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cs typeface="DejaVu Sans"/>
              </a:rPr>
              <a:t>THỊ TRƯỜNG TOÀN</a:t>
            </a:r>
            <a:r>
              <a:rPr sz="1500" b="1" spc="18" dirty="0">
                <a:solidFill>
                  <a:srgbClr val="FFFFFF"/>
                </a:solidFill>
                <a:cs typeface="DejaVu Sans"/>
              </a:rPr>
              <a:t> </a:t>
            </a:r>
            <a:r>
              <a:rPr sz="1500" b="1" dirty="0">
                <a:solidFill>
                  <a:srgbClr val="FFFFFF"/>
                </a:solidFill>
                <a:cs typeface="DejaVu Sans"/>
              </a:rPr>
              <a:t>CẦU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199456" y="6146928"/>
            <a:ext cx="127257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52" dirty="0">
                <a:solidFill>
                  <a:srgbClr val="CFFAFE"/>
                </a:solidFill>
                <a:cs typeface="DejaVu Sans"/>
              </a:rPr>
              <a:t>Trao</a:t>
            </a:r>
            <a:r>
              <a:rPr sz="1200" spc="30" dirty="0">
                <a:solidFill>
                  <a:srgbClr val="CFFAFE"/>
                </a:solidFill>
                <a:cs typeface="DejaVu Sans"/>
              </a:rPr>
              <a:t> </a:t>
            </a:r>
            <a:r>
              <a:rPr sz="1200" spc="-15" dirty="0">
                <a:solidFill>
                  <a:srgbClr val="CFFAFE"/>
                </a:solidFill>
                <a:cs typeface="DejaVu Sans"/>
              </a:rPr>
              <a:t>đổi</a:t>
            </a:r>
            <a:r>
              <a:rPr sz="1200" dirty="0">
                <a:solidFill>
                  <a:srgbClr val="CFFAFE"/>
                </a:solidFill>
                <a:cs typeface="DejaVu Sans"/>
              </a:rPr>
              <a:t> </a:t>
            </a:r>
            <a:r>
              <a:rPr sz="1200" spc="-10" dirty="0">
                <a:solidFill>
                  <a:srgbClr val="CFFAFE"/>
                </a:solidFill>
                <a:cs typeface="DejaVu Sans"/>
              </a:rPr>
              <a:t>tiền</a:t>
            </a:r>
            <a:r>
              <a:rPr sz="1200" spc="-12" dirty="0">
                <a:solidFill>
                  <a:srgbClr val="CFFAFE"/>
                </a:solidFill>
                <a:cs typeface="DejaVu Sans"/>
              </a:rPr>
              <a:t> </a:t>
            </a:r>
            <a:r>
              <a:rPr sz="1200" spc="-10" dirty="0">
                <a:solidFill>
                  <a:srgbClr val="CFFAFE"/>
                </a:solidFill>
                <a:cs typeface="DejaVu Sans"/>
              </a:rPr>
              <a:t>tệ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966568" y="6161079"/>
            <a:ext cx="15284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CCFBF1"/>
                </a:solidFill>
                <a:cs typeface="DejaVu Sans"/>
              </a:rPr>
              <a:t>Hoạt</a:t>
            </a:r>
            <a:r>
              <a:rPr sz="1200" dirty="0">
                <a:solidFill>
                  <a:srgbClr val="CCFBF1"/>
                </a:solidFill>
                <a:cs typeface="DejaVu Sans"/>
              </a:rPr>
              <a:t> </a:t>
            </a:r>
            <a:r>
              <a:rPr sz="1200" spc="-15" dirty="0">
                <a:solidFill>
                  <a:srgbClr val="CCFBF1"/>
                </a:solidFill>
                <a:cs typeface="DejaVu Sans"/>
              </a:rPr>
              <a:t>động</a:t>
            </a:r>
            <a:r>
              <a:rPr sz="1200" dirty="0">
                <a:solidFill>
                  <a:srgbClr val="CCFBF1"/>
                </a:solidFill>
                <a:cs typeface="DejaVu Sans"/>
              </a:rPr>
              <a:t> </a:t>
            </a:r>
            <a:r>
              <a:rPr sz="1200" spc="-10" dirty="0">
                <a:solidFill>
                  <a:srgbClr val="CCFBF1"/>
                </a:solidFill>
                <a:cs typeface="DejaVu Sans"/>
              </a:rPr>
              <a:t>liên</a:t>
            </a:r>
            <a:r>
              <a:rPr sz="1200" spc="-14" dirty="0">
                <a:solidFill>
                  <a:srgbClr val="CCFBF1"/>
                </a:solidFill>
                <a:cs typeface="DejaVu Sans"/>
              </a:rPr>
              <a:t> </a:t>
            </a:r>
            <a:r>
              <a:rPr sz="1200" spc="-12" dirty="0">
                <a:solidFill>
                  <a:srgbClr val="CCFBF1"/>
                </a:solidFill>
                <a:cs typeface="DejaVu Sans"/>
              </a:rPr>
              <a:t>tục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780552" y="6161079"/>
            <a:ext cx="194367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0E7FF"/>
                </a:solidFill>
                <a:cs typeface="DejaVu Sans"/>
              </a:rPr>
              <a:t>Khối</a:t>
            </a:r>
            <a:r>
              <a:rPr sz="1200" dirty="0">
                <a:solidFill>
                  <a:srgbClr val="E0E7FF"/>
                </a:solidFill>
                <a:cs typeface="DejaVu Sans"/>
              </a:rPr>
              <a:t> </a:t>
            </a:r>
            <a:r>
              <a:rPr sz="1200" spc="-12" dirty="0">
                <a:solidFill>
                  <a:srgbClr val="E0E7FF"/>
                </a:solidFill>
                <a:cs typeface="DejaVu Sans"/>
              </a:rPr>
              <a:t>lượng</a:t>
            </a:r>
            <a:r>
              <a:rPr sz="1200" spc="-10" dirty="0">
                <a:solidFill>
                  <a:srgbClr val="E0E7FF"/>
                </a:solidFill>
                <a:cs typeface="DejaVu Sans"/>
              </a:rPr>
              <a:t> </a:t>
            </a:r>
            <a:r>
              <a:rPr sz="1200" spc="-12" dirty="0">
                <a:solidFill>
                  <a:srgbClr val="E0E7FF"/>
                </a:solidFill>
                <a:cs typeface="DejaVu Sans"/>
              </a:rPr>
              <a:t>giao</a:t>
            </a:r>
            <a:r>
              <a:rPr sz="1200" spc="-10" dirty="0">
                <a:solidFill>
                  <a:srgbClr val="E0E7FF"/>
                </a:solidFill>
                <a:cs typeface="DejaVu Sans"/>
              </a:rPr>
              <a:t> </a:t>
            </a:r>
            <a:r>
              <a:rPr sz="1200" spc="-11" dirty="0">
                <a:solidFill>
                  <a:srgbClr val="E0E7FF"/>
                </a:solidFill>
                <a:cs typeface="DejaVu Sans"/>
              </a:rPr>
              <a:t>dịch</a:t>
            </a:r>
            <a:r>
              <a:rPr sz="1200" spc="-10" dirty="0">
                <a:solidFill>
                  <a:srgbClr val="E0E7FF"/>
                </a:solidFill>
                <a:cs typeface="DejaVu Sans"/>
              </a:rPr>
              <a:t> lớn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9045475" y="9196622"/>
            <a:ext cx="3128288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6B7280"/>
                </a:solidFill>
                <a:cs typeface="DejaVu Sans"/>
              </a:rPr>
              <a:t>Nguồn: VPBank, </a:t>
            </a:r>
            <a:r>
              <a:rPr sz="1000" spc="-11" dirty="0">
                <a:solidFill>
                  <a:srgbClr val="6B7280"/>
                </a:solidFill>
                <a:cs typeface="DejaVu Sans"/>
              </a:rPr>
              <a:t>LuatSuTrucTuyen.net,</a:t>
            </a:r>
            <a:r>
              <a:rPr sz="1000" spc="17" dirty="0">
                <a:solidFill>
                  <a:srgbClr val="6B7280"/>
                </a:solidFill>
                <a:cs typeface="DejaVu Sans"/>
              </a:rPr>
              <a:t> </a:t>
            </a:r>
            <a:r>
              <a:rPr sz="1000" dirty="0">
                <a:solidFill>
                  <a:srgbClr val="6B7280"/>
                </a:solidFill>
                <a:cs typeface="DejaVu Sans"/>
              </a:rPr>
              <a:t>SSI, VIB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45B8BA-A46F-A278-B43C-8E83D0CDF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3">
            <a:extLst>
              <a:ext uri="{FF2B5EF4-FFF2-40B4-BE49-F238E27FC236}">
                <a16:creationId xmlns:a16="http://schemas.microsoft.com/office/drawing/2014/main" id="{CBC74A6B-0010-2BEE-6A5F-712939834D65}"/>
              </a:ext>
            </a:extLst>
          </p:cNvPr>
          <p:cNvSpPr txBox="1"/>
          <p:nvPr/>
        </p:nvSpPr>
        <p:spPr>
          <a:xfrm>
            <a:off x="532484" y="188640"/>
            <a:ext cx="10604075" cy="1129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spc="-14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ƯU ĐIỂM CỦA ĐẦU TƯ FOREX </a:t>
            </a:r>
          </a:p>
          <a:p>
            <a:pPr marL="0" marR="0" algn="ctr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spc="-14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 VỚI THỊ TRƯỜNG CHỨNG KHOÁN VIỆT NAM</a:t>
            </a:r>
            <a:endParaRPr sz="2800" b="1" spc="-1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573A63C2-D0AB-1DA7-AF82-3922985D53A3}"/>
              </a:ext>
            </a:extLst>
          </p:cNvPr>
          <p:cNvSpPr txBox="1"/>
          <p:nvPr/>
        </p:nvSpPr>
        <p:spPr>
          <a:xfrm>
            <a:off x="988903" y="1640626"/>
            <a:ext cx="1819572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/>
            <a:r>
              <a:rPr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Thị trường 24/5</a:t>
            </a:r>
          </a:p>
        </p:txBody>
      </p:sp>
      <p:sp>
        <p:nvSpPr>
          <p:cNvPr id="18" name="object 5">
            <a:extLst>
              <a:ext uri="{FF2B5EF4-FFF2-40B4-BE49-F238E27FC236}">
                <a16:creationId xmlns:a16="http://schemas.microsoft.com/office/drawing/2014/main" id="{E1BEE388-3CB7-E08A-3AE3-DE8297C54D86}"/>
              </a:ext>
            </a:extLst>
          </p:cNvPr>
          <p:cNvSpPr txBox="1"/>
          <p:nvPr/>
        </p:nvSpPr>
        <p:spPr>
          <a:xfrm>
            <a:off x="4537799" y="1638542"/>
            <a:ext cx="1966002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/>
            <a:r>
              <a:rPr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Khó </a:t>
            </a:r>
            <a:r>
              <a:rPr sz="20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bị</a:t>
            </a:r>
            <a:r>
              <a:rPr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ctr"/>
            <a:r>
              <a:rPr sz="20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thao</a:t>
            </a:r>
            <a:r>
              <a:rPr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túng</a:t>
            </a:r>
          </a:p>
        </p:txBody>
      </p:sp>
      <p:sp>
        <p:nvSpPr>
          <p:cNvPr id="19" name="object 6">
            <a:extLst>
              <a:ext uri="{FF2B5EF4-FFF2-40B4-BE49-F238E27FC236}">
                <a16:creationId xmlns:a16="http://schemas.microsoft.com/office/drawing/2014/main" id="{F4CB1D48-40B0-F0FD-2BA4-93A78DEC0021}"/>
              </a:ext>
            </a:extLst>
          </p:cNvPr>
          <p:cNvSpPr txBox="1"/>
          <p:nvPr/>
        </p:nvSpPr>
        <p:spPr>
          <a:xfrm>
            <a:off x="8554459" y="1621306"/>
            <a:ext cx="2472305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/>
            <a:r>
              <a:rPr lang="en-US" sz="2000" b="1" spc="1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ctr"/>
            <a:r>
              <a:rPr sz="20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thanh</a:t>
            </a:r>
            <a:r>
              <a:rPr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khoản</a:t>
            </a: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endParaRPr sz="2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0D55FEE5-E4E4-27CC-0BEE-2C0F3744B599}"/>
              </a:ext>
            </a:extLst>
          </p:cNvPr>
          <p:cNvSpPr txBox="1"/>
          <p:nvPr/>
        </p:nvSpPr>
        <p:spPr>
          <a:xfrm>
            <a:off x="745944" y="2356143"/>
            <a:ext cx="2459571" cy="1249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spc="-14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1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sz="1400" spc="-1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liên</a:t>
            </a:r>
            <a:r>
              <a:rPr sz="1400" spc="-14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2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tục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sz="1400" spc="-14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4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sáng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2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</a:t>
            </a:r>
            <a:r>
              <a:rPr lang="en-US" sz="1400" spc="-12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7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cuối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ngày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2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</a:t>
            </a:r>
            <a:r>
              <a:rPr sz="1400" spc="-1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Sáu,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1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1400" spc="-11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2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sz="1400" spc="-1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1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sz="1400" spc="-1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linh</a:t>
            </a:r>
            <a:r>
              <a:rPr sz="1400" spc="-14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4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2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tư.</a:t>
            </a:r>
          </a:p>
        </p:txBody>
      </p:sp>
      <p:sp>
        <p:nvSpPr>
          <p:cNvPr id="30" name="object 9">
            <a:extLst>
              <a:ext uri="{FF2B5EF4-FFF2-40B4-BE49-F238E27FC236}">
                <a16:creationId xmlns:a16="http://schemas.microsoft.com/office/drawing/2014/main" id="{1F6FEE9A-44DC-21A9-FAB3-41330B1E2ADD}"/>
              </a:ext>
            </a:extLst>
          </p:cNvPr>
          <p:cNvSpPr txBox="1"/>
          <p:nvPr/>
        </p:nvSpPr>
        <p:spPr>
          <a:xfrm>
            <a:off x="4312413" y="2356143"/>
            <a:ext cx="2472305" cy="92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spc="-17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23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2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2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sz="1400" spc="-1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lớn</a:t>
            </a:r>
            <a:r>
              <a:rPr sz="1400" spc="-11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</a:t>
            </a:r>
            <a:r>
              <a:rPr lang="en-US" sz="14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1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sz="1400" spc="-1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2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r>
              <a:rPr sz="1400" spc="-1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2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khiến</a:t>
            </a:r>
            <a:r>
              <a:rPr sz="1400" spc="-1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1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2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thao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4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túng</a:t>
            </a:r>
            <a:r>
              <a:rPr lang="en-US" sz="1400" spc="-14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0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sz="1400" spc="-11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dài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hạn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sz="1400" spc="-12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nên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bất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thi.</a:t>
            </a:r>
          </a:p>
        </p:txBody>
      </p:sp>
      <p:sp>
        <p:nvSpPr>
          <p:cNvPr id="31" name="object 10">
            <a:extLst>
              <a:ext uri="{FF2B5EF4-FFF2-40B4-BE49-F238E27FC236}">
                <a16:creationId xmlns:a16="http://schemas.microsoft.com/office/drawing/2014/main" id="{3178AF40-6D66-7F28-7481-02B1246CE005}"/>
              </a:ext>
            </a:extLst>
          </p:cNvPr>
          <p:cNvSpPr txBox="1"/>
          <p:nvPr/>
        </p:nvSpPr>
        <p:spPr>
          <a:xfrm>
            <a:off x="8565964" y="2311305"/>
            <a:ext cx="2440603" cy="92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Dễ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dàng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2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mua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ngoại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0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tệ</a:t>
            </a:r>
            <a:r>
              <a:rPr sz="1400" spc="-12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bất</a:t>
            </a:r>
            <a:r>
              <a:rPr lang="en-US" sz="14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4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lúc </a:t>
            </a:r>
            <a:r>
              <a:rPr sz="14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23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mà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gặp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14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2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sz="1400" spc="-1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4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cố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4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thanh</a:t>
            </a:r>
            <a:r>
              <a:rPr sz="14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khoản</a:t>
            </a:r>
            <a:r>
              <a:rPr sz="14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4" name="object 6">
            <a:extLst>
              <a:ext uri="{FF2B5EF4-FFF2-40B4-BE49-F238E27FC236}">
                <a16:creationId xmlns:a16="http://schemas.microsoft.com/office/drawing/2014/main" id="{0C99CDB9-B8EF-88FD-A3A5-085135651581}"/>
              </a:ext>
            </a:extLst>
          </p:cNvPr>
          <p:cNvSpPr txBox="1"/>
          <p:nvPr/>
        </p:nvSpPr>
        <p:spPr>
          <a:xfrm>
            <a:off x="532484" y="4013723"/>
            <a:ext cx="3073565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/>
            <a:r>
              <a:rPr lang="en-US" sz="2000" b="1" spc="1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sz="20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1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0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1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khớp</a:t>
            </a:r>
            <a:r>
              <a:rPr lang="en-US" sz="20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1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lang="en-US" sz="20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1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nhanh</a:t>
            </a:r>
            <a:r>
              <a:rPr lang="en-US" sz="20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1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chóng</a:t>
            </a:r>
            <a:endParaRPr sz="2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object 10">
            <a:extLst>
              <a:ext uri="{FF2B5EF4-FFF2-40B4-BE49-F238E27FC236}">
                <a16:creationId xmlns:a16="http://schemas.microsoft.com/office/drawing/2014/main" id="{A213EA6C-6FB1-746E-220C-C2B89065A02F}"/>
              </a:ext>
            </a:extLst>
          </p:cNvPr>
          <p:cNvSpPr txBox="1"/>
          <p:nvPr/>
        </p:nvSpPr>
        <p:spPr>
          <a:xfrm>
            <a:off x="678387" y="4952042"/>
            <a:ext cx="2440603" cy="925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Khớp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tức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ngay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tốn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chờ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đợi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400" spc="-15" dirty="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object 6">
            <a:extLst>
              <a:ext uri="{FF2B5EF4-FFF2-40B4-BE49-F238E27FC236}">
                <a16:creationId xmlns:a16="http://schemas.microsoft.com/office/drawing/2014/main" id="{A0893707-F65A-E73F-FF0C-4A54B044FF91}"/>
              </a:ext>
            </a:extLst>
          </p:cNvPr>
          <p:cNvSpPr txBox="1"/>
          <p:nvPr/>
        </p:nvSpPr>
        <p:spPr>
          <a:xfrm>
            <a:off x="4342890" y="4020221"/>
            <a:ext cx="2361021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/>
            <a:r>
              <a:rPr lang="en-US" sz="2000" b="1" spc="1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Đòn</a:t>
            </a:r>
            <a:r>
              <a:rPr lang="en-US" sz="20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1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bẩy</a:t>
            </a:r>
            <a:r>
              <a:rPr lang="en-US" sz="20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1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endParaRPr sz="2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object 10">
            <a:extLst>
              <a:ext uri="{FF2B5EF4-FFF2-40B4-BE49-F238E27FC236}">
                <a16:creationId xmlns:a16="http://schemas.microsoft.com/office/drawing/2014/main" id="{49D639AC-7D7E-5C0D-6E1E-3C3722475330}"/>
              </a:ext>
            </a:extLst>
          </p:cNvPr>
          <p:cNvSpPr txBox="1"/>
          <p:nvPr/>
        </p:nvSpPr>
        <p:spPr>
          <a:xfrm>
            <a:off x="4302121" y="4629275"/>
            <a:ext cx="2440603" cy="125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Đòn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bẩy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thường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1:500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giúp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cận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vốn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nhỏ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400" spc="-15" dirty="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object 6">
            <a:extLst>
              <a:ext uri="{FF2B5EF4-FFF2-40B4-BE49-F238E27FC236}">
                <a16:creationId xmlns:a16="http://schemas.microsoft.com/office/drawing/2014/main" id="{A16B3BEE-0A99-82F2-6FA3-4FE60A9E3A29}"/>
              </a:ext>
            </a:extLst>
          </p:cNvPr>
          <p:cNvSpPr txBox="1"/>
          <p:nvPr/>
        </p:nvSpPr>
        <p:spPr>
          <a:xfrm>
            <a:off x="8397668" y="4013722"/>
            <a:ext cx="2721664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/>
            <a:r>
              <a:rPr lang="en-US" sz="2000" b="1" spc="1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0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1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mua</a:t>
            </a:r>
            <a:r>
              <a:rPr lang="en-US" sz="20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1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20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algn="ctr"/>
            <a:r>
              <a:rPr lang="en-US" sz="2000" b="1" spc="1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sz="20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1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endParaRPr sz="2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object 10">
            <a:extLst>
              <a:ext uri="{FF2B5EF4-FFF2-40B4-BE49-F238E27FC236}">
                <a16:creationId xmlns:a16="http://schemas.microsoft.com/office/drawing/2014/main" id="{70723052-6A00-3102-E599-CE07BC1B96E1}"/>
              </a:ext>
            </a:extLst>
          </p:cNvPr>
          <p:cNvSpPr txBox="1"/>
          <p:nvPr/>
        </p:nvSpPr>
        <p:spPr>
          <a:xfrm>
            <a:off x="8565964" y="4790857"/>
            <a:ext cx="2440603" cy="92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mua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giúp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kiếm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lợi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-18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nhuận</a:t>
            </a:r>
            <a:r>
              <a:rPr lang="en-US" sz="1400" spc="-18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400" spc="-15" dirty="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344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7373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57892"/>
            <a:ext cx="5871422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8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sz="3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b="1" spc="18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sz="30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b="1" spc="18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r>
              <a:rPr sz="3000" b="1" spc="12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b="1" spc="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sz="3000" b="1" spc="12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b="1" spc="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627488" y="2276872"/>
            <a:ext cx="1416010" cy="525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 hóa &amp;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Cổ phiếu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70210" y="2276872"/>
            <a:ext cx="117900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Ngoại hối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298775" y="2276872"/>
            <a:ext cx="87436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Crypto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956053" y="2276872"/>
            <a:ext cx="1026952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Kim</a:t>
            </a:r>
            <a:r>
              <a:rPr sz="15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284766" y="2276872"/>
            <a:ext cx="808821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Chỉ số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61081" y="2687956"/>
            <a:ext cx="1881426" cy="8596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2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sz="1200" spc="-1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1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trao</a:t>
            </a:r>
            <a:r>
              <a:rPr sz="1200" spc="-1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tiền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tệ</a:t>
            </a:r>
            <a:r>
              <a:rPr sz="1200" spc="-12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quốc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2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gia.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1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4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cặp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tiền</a:t>
            </a:r>
            <a:r>
              <a:rPr sz="1200" spc="-12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tệ</a:t>
            </a:r>
            <a:r>
              <a:rPr sz="1200" spc="-12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</a:p>
          <a:p>
            <a:pPr marL="0" marR="0">
              <a:lnSpc>
                <a:spcPts val="1368"/>
              </a:lnSpc>
              <a:spcBef>
                <a:spcPts val="356"/>
              </a:spcBef>
              <a:spcAft>
                <a:spcPts val="0"/>
              </a:spcAft>
            </a:pP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EUR/USD,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4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USD/JPY.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889646" y="2687956"/>
            <a:ext cx="1867186" cy="8596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3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Tiền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23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mã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phổ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2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1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Bitcoin,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8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Ethereum,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coi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là</a:t>
            </a: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1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</a:p>
          <a:p>
            <a:pPr marL="0" marR="0">
              <a:lnSpc>
                <a:spcPts val="1368"/>
              </a:lnSpc>
              <a:spcBef>
                <a:spcPts val="356"/>
              </a:spcBef>
              <a:spcAft>
                <a:spcPts val="0"/>
              </a:spcAft>
            </a:pP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ngoại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1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hối.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546924" y="2687956"/>
            <a:ext cx="1845995" cy="8596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38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Vàng,</a:t>
            </a:r>
            <a:r>
              <a:rPr sz="1200" spc="23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bạc,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bạch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kim</a:t>
            </a:r>
            <a:r>
              <a:rPr sz="1200" spc="-2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1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ngoại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hối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truyền</a:t>
            </a:r>
            <a:r>
              <a:rPr sz="1200" spc="-1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thống,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</a:t>
            </a:r>
            <a:r>
              <a:rPr sz="1200" spc="-11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</a:p>
          <a:p>
            <a:pPr marL="0" marR="0">
              <a:lnSpc>
                <a:spcPts val="1368"/>
              </a:lnSpc>
              <a:spcBef>
                <a:spcPts val="356"/>
              </a:spcBef>
              <a:spcAft>
                <a:spcPts val="0"/>
              </a:spcAft>
            </a:pPr>
            <a:r>
              <a:rPr sz="1200" spc="-1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cao.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875638" y="2687956"/>
            <a:ext cx="1901685" cy="8596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1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sz="1200" spc="-1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dựa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2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2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sz="1200" spc="-1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2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sz="1200" spc="-1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</a:p>
          <a:p>
            <a:pPr marL="0" marR="0">
              <a:lnSpc>
                <a:spcPts val="1368"/>
              </a:lnSpc>
              <a:spcBef>
                <a:spcPts val="356"/>
              </a:spcBef>
              <a:spcAft>
                <a:spcPts val="0"/>
              </a:spcAft>
            </a:pPr>
            <a:r>
              <a:rPr sz="1200" spc="-11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lớn.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218359" y="2945131"/>
            <a:ext cx="1797677" cy="850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sz="1200" spc="-14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dầu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2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thô,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vàng,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bạc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cổ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2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phiếu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sz="120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</a:t>
            </a:r>
            <a:r>
              <a:rPr sz="1200" spc="-12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niêm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2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yết.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57892"/>
            <a:ext cx="9315401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8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sz="3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b="1" spc="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PHIÊN</a:t>
            </a:r>
            <a:r>
              <a:rPr sz="3000" b="1" spc="1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b="1" spc="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sz="3000" b="1" spc="12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b="1" spc="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sz="3000" b="1" spc="12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b="1" spc="18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sz="3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b="1" spc="-57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NGÀY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49130" y="1221933"/>
            <a:ext cx="213426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Phiên Sydney (Úc)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49130" y="1499668"/>
            <a:ext cx="2690246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sz="1200" spc="28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cửa</a:t>
            </a:r>
            <a:r>
              <a:rPr sz="1200" spc="2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14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sz="1200" spc="2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18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tiên</a:t>
            </a:r>
            <a:r>
              <a:rPr sz="1200" spc="17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1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sz="1200" spc="2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14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ngày</a:t>
            </a:r>
            <a:r>
              <a:rPr sz="1200" spc="21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17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17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6984" y="2526858"/>
            <a:ext cx="184233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Phiên </a:t>
            </a:r>
            <a:r>
              <a:rPr sz="1500" b="1" spc="-34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Tokyo</a:t>
            </a:r>
            <a:r>
              <a:rPr sz="1500" b="1" spc="46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(Á)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6984" y="2814118"/>
            <a:ext cx="2525924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12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sz="1200" spc="28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14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sz="1200" spc="2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sz="1200" spc="28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17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nổi,</a:t>
            </a:r>
            <a:r>
              <a:rPr sz="1200" spc="2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14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chồng</a:t>
            </a:r>
            <a:r>
              <a:rPr sz="1200" spc="2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chéo</a:t>
            </a:r>
          </a:p>
          <a:p>
            <a:pPr marL="0" marR="0">
              <a:lnSpc>
                <a:spcPts val="1368"/>
              </a:lnSpc>
              <a:spcBef>
                <a:spcPts val="156"/>
              </a:spcBef>
              <a:spcAft>
                <a:spcPts val="0"/>
              </a:spcAft>
            </a:pPr>
            <a:r>
              <a:rPr sz="1200" spc="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sz="1200" spc="3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phiên</a:t>
            </a:r>
            <a:r>
              <a:rPr sz="1200" spc="18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1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Sydney.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949130" y="3831783"/>
            <a:ext cx="215385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Phiên London (Âu)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949130" y="4119043"/>
            <a:ext cx="2594110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Phiên</a:t>
            </a:r>
            <a:r>
              <a:rPr sz="1200" spc="18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17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sz="1200" spc="18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17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sz="1200" spc="18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lớn</a:t>
            </a:r>
            <a:r>
              <a:rPr sz="1200" spc="17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nhất,</a:t>
            </a:r>
            <a:r>
              <a:rPr sz="1200" spc="28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thanh</a:t>
            </a:r>
          </a:p>
          <a:p>
            <a:pPr marL="0" marR="0">
              <a:lnSpc>
                <a:spcPts val="1368"/>
              </a:lnSpc>
              <a:spcBef>
                <a:spcPts val="156"/>
              </a:spcBef>
              <a:spcAft>
                <a:spcPts val="0"/>
              </a:spcAft>
            </a:pPr>
            <a:r>
              <a:rPr sz="1200" spc="14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khoản</a:t>
            </a:r>
            <a:r>
              <a:rPr sz="1200" spc="2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cao.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406407" y="4175438"/>
            <a:ext cx="3265237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A5B4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phiên hoạt động liên tiếp và</a:t>
            </a:r>
          </a:p>
          <a:p>
            <a:pPr marL="674191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b="1" dirty="0">
                <a:solidFill>
                  <a:srgbClr val="A5B4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 khi trùng nhau.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305799" y="4766743"/>
            <a:ext cx="3466517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Lặp</a:t>
            </a:r>
            <a:r>
              <a:rPr sz="12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sz="12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4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suốt</a:t>
            </a:r>
            <a:r>
              <a:rPr sz="12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2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tuần</a:t>
            </a:r>
            <a:r>
              <a:rPr sz="1200" spc="-1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sz="12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sz="12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2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phiên</a:t>
            </a:r>
            <a:r>
              <a:rPr sz="1200" spc="-1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2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Mỹ</a:t>
            </a:r>
            <a:r>
              <a:rPr sz="12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đóng</a:t>
            </a:r>
            <a:r>
              <a:rPr sz="12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cửa</a:t>
            </a:r>
          </a:p>
          <a:p>
            <a:pPr marL="127888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sz="12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2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</a:t>
            </a:r>
            <a:r>
              <a:rPr sz="1200" spc="-1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6984" y="5063460"/>
            <a:ext cx="239861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Phiên New </a:t>
            </a:r>
            <a:r>
              <a:rPr sz="1500" b="1" spc="-28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York</a:t>
            </a:r>
            <a:r>
              <a:rPr sz="1500" b="1" spc="4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(Mỹ)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03113" y="5861364"/>
            <a:ext cx="1597247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PHIÊN CHÍNH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998391" y="5861364"/>
            <a:ext cx="1796267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HOẠT ĐỘNG 24/5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893670" y="5861364"/>
            <a:ext cx="2279812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CHỒNG CHÉO MÚI GIỜ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03113" y="6109768"/>
            <a:ext cx="263840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Sydney,</a:t>
            </a:r>
            <a:r>
              <a:rPr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52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Tokyo,</a:t>
            </a:r>
            <a:r>
              <a:rPr sz="1200" spc="37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8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London,</a:t>
            </a:r>
            <a:r>
              <a:rPr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7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sz="1200" spc="-1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9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York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998391" y="6109768"/>
            <a:ext cx="154213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2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</a:t>
            </a:r>
            <a:r>
              <a:rPr sz="1200" spc="-1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sz="1200" spc="-23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2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</a:t>
            </a:r>
            <a:r>
              <a:rPr sz="1200" spc="-1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893670" y="6109768"/>
            <a:ext cx="207683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khối</a:t>
            </a:r>
            <a:r>
              <a:rPr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2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sz="1200" spc="-1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2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sz="1200" spc="-1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1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 b="-62470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8" y="357892"/>
            <a:ext cx="8019257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45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3000" b="1" spc="-45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b="1" spc="-45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Ý</a:t>
            </a:r>
            <a:r>
              <a:rPr sz="3000" b="1" spc="48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b="1" spc="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sz="3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b="1" spc="18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sz="3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b="1" spc="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BUY/SELL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4516" y="1240387"/>
            <a:ext cx="11170891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 kiếm lợi nhuận </a:t>
            </a:r>
            <a:r>
              <a:rPr sz="1350" spc="-1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sz="13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thị trường ngoại hối, nhà đầu tư thực hiện hai hành động chính: MUA khi kỳ vọng giá tăng và BÁN </a:t>
            </a:r>
            <a:r>
              <a:rPr sz="1350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sz="13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vi-VN" sz="13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</a:t>
            </a:r>
            <a:r>
              <a:rPr sz="1350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ọng</a:t>
            </a:r>
            <a:r>
              <a:rPr sz="13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giá giảm.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15480" y="2876855"/>
            <a:ext cx="2106888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-2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MUA</a:t>
            </a:r>
            <a:r>
              <a:rPr sz="2500" b="1" spc="43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00" b="1" spc="12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(BUY)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14482" y="2876345"/>
            <a:ext cx="2171546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4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sz="2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00" b="1" spc="1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(SELL)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39416" y="4157472"/>
            <a:ext cx="433687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-12" dirty="0">
                <a:solidFill>
                  <a:srgbClr val="86EFA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MUA</a:t>
            </a:r>
            <a:r>
              <a:rPr sz="1500" b="1" spc="25" dirty="0">
                <a:solidFill>
                  <a:srgbClr val="86EFA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86EFA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cặp ngoại tệ khi kì vọng giá tăng.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44072" y="4157472"/>
            <a:ext cx="4473931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CA5A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 cặp ngoại tệ khi kì vọng giá xuống.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08784" y="4961279"/>
            <a:ext cx="5109926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7231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 MUA (Long) một cặp tiền, bạn kỳ vọng đồng tiền cơ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sở sẽ tăng giá so với đồng tiền định giá.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17410" y="4961278"/>
            <a:ext cx="5127502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7232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 BÁN (Short) một cặp tiền, bạn kỳ vọng đồng tiền cơ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sở sẽ giảm giá so với đồng tiền định giá.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08784" y="5691041"/>
            <a:ext cx="5034477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7231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 tiêu là mua ở giá thấp và bán lại ở giá cao hơn để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kiếm lời từ chênh lệch.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17410" y="5691041"/>
            <a:ext cx="5034479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7232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 tiêu là bán ở giá cao và mua lại ở giá thấp hơn để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kiếm lời từ chênh lệch.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79376" y="21249"/>
            <a:ext cx="8365567" cy="417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spc="18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KHÁI</a:t>
            </a:r>
            <a:r>
              <a:rPr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NIỆM</a:t>
            </a:r>
            <a:r>
              <a:rPr sz="2400" b="1" spc="17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CƠ</a:t>
            </a:r>
            <a:r>
              <a:rPr sz="24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18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BẢN:</a:t>
            </a:r>
            <a:r>
              <a:rPr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17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SPREAD</a:t>
            </a:r>
            <a:r>
              <a:rPr sz="24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187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sz="2400" b="1" spc="213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18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SWAP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61602" y="587660"/>
            <a:ext cx="3359350" cy="26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14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Spread</a:t>
            </a: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(Phí</a:t>
            </a: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giao dịch)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47761" y="588625"/>
            <a:ext cx="3049994" cy="26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1400" b="1" spc="1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Swap</a:t>
            </a: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(Phí</a:t>
            </a: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</a:t>
            </a: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spc="12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đêm)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27204" y="908720"/>
            <a:ext cx="4428146" cy="1894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 nghĩa:</a:t>
            </a:r>
            <a:r>
              <a:rPr sz="1100" b="1" spc="-4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 chênh lệch giữa giá MUA và BÁN.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12251" y="917426"/>
            <a:ext cx="5001648" cy="188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 nghĩa:</a:t>
            </a:r>
            <a:r>
              <a:rPr sz="1100" b="1" spc="-4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 tiền phải trả hoặc nhận khi giữ </a:t>
            </a:r>
            <a:r>
              <a:rPr sz="1100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sz="11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qua</a:t>
            </a:r>
            <a:r>
              <a:rPr lang="vi-VN" sz="11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đêm</a:t>
            </a:r>
            <a:endParaRPr sz="1100" dirty="0">
              <a:solidFill>
                <a:srgbClr val="CBD5E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7204" y="1107156"/>
            <a:ext cx="5100603" cy="188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Lợi ích:</a:t>
            </a:r>
            <a:r>
              <a:rPr sz="1100" b="1" spc="-4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Mức </a:t>
            </a:r>
            <a:r>
              <a:rPr sz="1100" spc="-1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spread</a:t>
            </a:r>
            <a:r>
              <a:rPr sz="11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thấp giúp giao dịch tốt hơn </a:t>
            </a:r>
            <a:r>
              <a:rPr sz="1100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sz="11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nhanh</a:t>
            </a:r>
            <a:r>
              <a:rPr lang="vi-VN" sz="11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có lợi nhuận</a:t>
            </a:r>
            <a:endParaRPr sz="1100" dirty="0">
              <a:solidFill>
                <a:srgbClr val="CBD5E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10700" y="1125587"/>
            <a:ext cx="4863473" cy="1894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 sở:</a:t>
            </a:r>
            <a:r>
              <a:rPr sz="1100" b="1" spc="-4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Chênh lệch lãi suất giữa 2 loại tiền tệ giao dịch.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10700" y="1311343"/>
            <a:ext cx="4791192" cy="188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Lưu ý:</a:t>
            </a:r>
            <a:r>
              <a:rPr sz="1100" b="1" spc="-4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Swap có thể là dương (nhận tiền) hoặc âm (</a:t>
            </a:r>
            <a:r>
              <a:rPr sz="1100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vi-VN" sz="11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tiền)</a:t>
            </a:r>
            <a:endParaRPr sz="1100" dirty="0">
              <a:solidFill>
                <a:srgbClr val="CBD5E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65536" y="1449761"/>
            <a:ext cx="4530464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12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67E8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Spread =</a:t>
            </a:r>
            <a:r>
              <a:rPr sz="1500" spc="14" dirty="0">
                <a:solidFill>
                  <a:srgbClr val="67E8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dirty="0">
                <a:solidFill>
                  <a:srgbClr val="67E8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 (giá mua) –</a:t>
            </a:r>
            <a:r>
              <a:rPr sz="1500" spc="14" dirty="0">
                <a:solidFill>
                  <a:srgbClr val="67E8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dirty="0">
                <a:solidFill>
                  <a:srgbClr val="67E8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Bid (giá bán)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063608" y="14158641"/>
            <a:ext cx="1854061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4A3B8"/>
                </a:solidFill>
                <a:cs typeface="DejaVu Sans"/>
              </a:rPr>
              <a:t>Nguồn: Nội dung cung cấp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5360" y="186003"/>
            <a:ext cx="10539537" cy="4585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18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KHÁI</a:t>
            </a:r>
            <a:r>
              <a:rPr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NIỆM</a:t>
            </a:r>
            <a:r>
              <a:rPr sz="3200" b="1" spc="17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CƠ</a:t>
            </a:r>
            <a:r>
              <a:rPr sz="32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18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BẢN:</a:t>
            </a:r>
            <a:r>
              <a:rPr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PIP/POINT</a:t>
            </a:r>
            <a:r>
              <a:rPr sz="32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-187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sz="3200" b="1" spc="213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-46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sz="3200" b="1" spc="-10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4447" y="1321088"/>
            <a:ext cx="4703799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 –</a:t>
            </a:r>
            <a:r>
              <a:rPr sz="2400" b="1" spc="12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</a:t>
            </a:r>
            <a:r>
              <a:rPr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(Đơn</a:t>
            </a:r>
            <a:r>
              <a:rPr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1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vi-VN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1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sz="24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2770" y="1259685"/>
            <a:ext cx="3969186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400" b="1" spc="-23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LOT</a:t>
            </a:r>
            <a:r>
              <a:rPr sz="2400" b="1" spc="4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(Khối</a:t>
            </a:r>
            <a:r>
              <a:rPr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giao dịch)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839619" y="1719423"/>
            <a:ext cx="4738278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 dịch </a:t>
            </a:r>
            <a:r>
              <a:rPr sz="1600" spc="-21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Forex</a:t>
            </a:r>
            <a:r>
              <a:rPr sz="1600" spc="33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 thực hiện theo đơn vị </a:t>
            </a:r>
            <a:r>
              <a:rPr sz="1600" spc="-23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sz="1600" spc="-467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86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60387" y="1956371"/>
            <a:ext cx="4759328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Point:</a:t>
            </a:r>
            <a:r>
              <a:rPr sz="1600" b="1" spc="-43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 diện cho sự thay đổi nhỏ nhất </a:t>
            </a:r>
            <a:r>
              <a:rPr sz="1600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sz="16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tỷ</a:t>
            </a:r>
            <a:r>
              <a:rPr lang="vi-VN" sz="16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giá</a:t>
            </a:r>
            <a:endParaRPr sz="1600" dirty="0">
              <a:solidFill>
                <a:srgbClr val="CBD5E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45944" y="2087617"/>
            <a:ext cx="4542838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1600" b="1" spc="1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18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LOT</a:t>
            </a:r>
            <a:r>
              <a:rPr sz="1600" b="1" spc="3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chuẩn:</a:t>
            </a:r>
            <a:r>
              <a:rPr sz="1600" b="1" spc="628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100.000 đơn vị</a:t>
            </a:r>
            <a:r>
              <a:rPr sz="1600" spc="673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tiền tệ cơ sở.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39619" y="2452848"/>
            <a:ext cx="4761667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 dịch tối thiểu:</a:t>
            </a:r>
            <a:r>
              <a:rPr sz="1600" b="1" spc="-43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 thể giao dịch nhỏ nhất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60387" y="2561752"/>
            <a:ext cx="2737567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 đổi:</a:t>
            </a:r>
            <a:r>
              <a:rPr sz="1600" b="1" spc="628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600" b="1" spc="628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1600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</a:t>
            </a:r>
            <a:r>
              <a:rPr sz="1600" spc="23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sz="1600" spc="14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Point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48223" y="2714475"/>
            <a:ext cx="1279682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 0.01 </a:t>
            </a:r>
            <a:r>
              <a:rPr sz="1600" spc="-23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sz="1600" spc="-467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86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60387" y="2925152"/>
            <a:ext cx="4025853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 dụ:</a:t>
            </a:r>
            <a:r>
              <a:rPr sz="1600" b="1" spc="-44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EUR/USD thay đổi từ 1.12345 lên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60387" y="3190024"/>
            <a:ext cx="3982614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1.12355 là thay đổi 10 point (tức 1</a:t>
            </a:r>
            <a:r>
              <a:rPr sz="1600" spc="1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Pip).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893967" y="7908469"/>
            <a:ext cx="3279757" cy="182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400" spc="-18" dirty="0">
                <a:solidFill>
                  <a:srgbClr val="9CA3AF"/>
                </a:solidFill>
                <a:cs typeface="DejaVu Sans"/>
              </a:rPr>
              <a:t>Source:</a:t>
            </a:r>
            <a:r>
              <a:rPr sz="1400" dirty="0">
                <a:solidFill>
                  <a:srgbClr val="9CA3AF"/>
                </a:solidFill>
                <a:cs typeface="DejaVu Sans"/>
              </a:rPr>
              <a:t> </a:t>
            </a:r>
            <a:r>
              <a:rPr sz="1400" spc="-17" dirty="0">
                <a:solidFill>
                  <a:srgbClr val="9CA3AF"/>
                </a:solidFill>
                <a:cs typeface="DejaVu Sans"/>
              </a:rPr>
              <a:t>FOREX</a:t>
            </a:r>
            <a:r>
              <a:rPr sz="1400" dirty="0">
                <a:solidFill>
                  <a:srgbClr val="9CA3AF"/>
                </a:solidFill>
                <a:cs typeface="DejaVu Sans"/>
              </a:rPr>
              <a:t> </a:t>
            </a:r>
            <a:r>
              <a:rPr sz="1400" spc="-92" dirty="0">
                <a:solidFill>
                  <a:srgbClr val="9CA3AF"/>
                </a:solidFill>
                <a:cs typeface="DejaVu Sans"/>
              </a:rPr>
              <a:t>VÀ</a:t>
            </a:r>
            <a:r>
              <a:rPr sz="1400" spc="67" dirty="0">
                <a:solidFill>
                  <a:srgbClr val="9CA3AF"/>
                </a:solidFill>
                <a:cs typeface="DejaVu Sans"/>
              </a:rPr>
              <a:t> </a:t>
            </a:r>
            <a:r>
              <a:rPr sz="1400" spc="-17" dirty="0">
                <a:solidFill>
                  <a:srgbClr val="9CA3AF"/>
                </a:solidFill>
                <a:cs typeface="DejaVu Sans"/>
              </a:rPr>
              <a:t>KHÁI</a:t>
            </a:r>
            <a:r>
              <a:rPr sz="1400" dirty="0">
                <a:solidFill>
                  <a:srgbClr val="9CA3AF"/>
                </a:solidFill>
                <a:cs typeface="DejaVu Sans"/>
              </a:rPr>
              <a:t> </a:t>
            </a:r>
            <a:r>
              <a:rPr sz="1400" spc="-14" dirty="0">
                <a:solidFill>
                  <a:srgbClr val="9CA3AF"/>
                </a:solidFill>
                <a:cs typeface="DejaVu Sans"/>
              </a:rPr>
              <a:t>NIỆM</a:t>
            </a:r>
            <a:r>
              <a:rPr sz="1400" spc="-15" dirty="0">
                <a:solidFill>
                  <a:srgbClr val="9CA3AF"/>
                </a:solidFill>
                <a:cs typeface="DejaVu Sans"/>
              </a:rPr>
              <a:t> </a:t>
            </a:r>
            <a:r>
              <a:rPr sz="1400" spc="-17" dirty="0">
                <a:solidFill>
                  <a:srgbClr val="9CA3AF"/>
                </a:solidFill>
                <a:cs typeface="DejaVu Sans"/>
              </a:rPr>
              <a:t>CƠ</a:t>
            </a:r>
            <a:r>
              <a:rPr sz="1400" spc="-12" dirty="0">
                <a:solidFill>
                  <a:srgbClr val="9CA3AF"/>
                </a:solidFill>
                <a:cs typeface="DejaVu Sans"/>
              </a:rPr>
              <a:t> </a:t>
            </a:r>
            <a:r>
              <a:rPr sz="1400" spc="-15" dirty="0">
                <a:solidFill>
                  <a:srgbClr val="9CA3AF"/>
                </a:solidFill>
                <a:cs typeface="DejaVu Sans"/>
              </a:rPr>
              <a:t>BẢN.pdf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7029" y="168444"/>
            <a:ext cx="11357942" cy="4585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18" dirty="0">
                <a:solidFill>
                  <a:srgbClr val="FFFFFF"/>
                </a:solidFill>
                <a:cs typeface="DejaVu Sans"/>
              </a:rPr>
              <a:t>KHÁI</a:t>
            </a:r>
            <a:r>
              <a:rPr sz="3600" b="1" dirty="0">
                <a:solidFill>
                  <a:srgbClr val="FFFFFF"/>
                </a:solidFill>
                <a:cs typeface="DejaVu Sans"/>
              </a:rPr>
              <a:t> </a:t>
            </a:r>
            <a:r>
              <a:rPr sz="3600" b="1" spc="15" dirty="0">
                <a:solidFill>
                  <a:srgbClr val="FFFFFF"/>
                </a:solidFill>
                <a:cs typeface="DejaVu Sans"/>
              </a:rPr>
              <a:t>NIỆM</a:t>
            </a:r>
            <a:r>
              <a:rPr sz="3600" b="1" spc="17" dirty="0">
                <a:solidFill>
                  <a:srgbClr val="FFFFFF"/>
                </a:solidFill>
                <a:cs typeface="DejaVu Sans"/>
              </a:rPr>
              <a:t> CƠ</a:t>
            </a:r>
            <a:r>
              <a:rPr sz="3600" b="1" spc="10" dirty="0">
                <a:solidFill>
                  <a:srgbClr val="FFFFFF"/>
                </a:solidFill>
                <a:cs typeface="DejaVu Sans"/>
              </a:rPr>
              <a:t> </a:t>
            </a:r>
            <a:r>
              <a:rPr sz="3600" b="1" spc="18" dirty="0">
                <a:solidFill>
                  <a:srgbClr val="FFFFFF"/>
                </a:solidFill>
                <a:cs typeface="DejaVu Sans"/>
              </a:rPr>
              <a:t>BẢN:</a:t>
            </a:r>
            <a:r>
              <a:rPr sz="3600" b="1" dirty="0">
                <a:solidFill>
                  <a:srgbClr val="FFFFFF"/>
                </a:solidFill>
                <a:cs typeface="DejaVu Sans"/>
              </a:rPr>
              <a:t> </a:t>
            </a:r>
            <a:r>
              <a:rPr sz="3600" b="1" spc="17" dirty="0">
                <a:solidFill>
                  <a:srgbClr val="FFFFFF"/>
                </a:solidFill>
                <a:cs typeface="DejaVu Sans"/>
              </a:rPr>
              <a:t>LEVERAGE</a:t>
            </a:r>
            <a:r>
              <a:rPr sz="3600" b="1" dirty="0">
                <a:solidFill>
                  <a:srgbClr val="FFFFFF"/>
                </a:solidFill>
                <a:cs typeface="DejaVu Sans"/>
              </a:rPr>
              <a:t> </a:t>
            </a:r>
            <a:r>
              <a:rPr sz="3600" b="1" spc="-187" dirty="0">
                <a:solidFill>
                  <a:srgbClr val="FFFFFF"/>
                </a:solidFill>
                <a:cs typeface="DejaVu Sans"/>
              </a:rPr>
              <a:t>VÀ</a:t>
            </a:r>
            <a:r>
              <a:rPr sz="3600" b="1" spc="213" dirty="0">
                <a:solidFill>
                  <a:srgbClr val="FFFFFF"/>
                </a:solidFill>
                <a:cs typeface="DejaVu Sans"/>
              </a:rPr>
              <a:t> </a:t>
            </a:r>
            <a:r>
              <a:rPr sz="3600" b="1" spc="17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MARGIN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37067" y="887597"/>
            <a:ext cx="370167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800" b="1" spc="1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Leverage</a:t>
            </a:r>
            <a:r>
              <a:rPr sz="2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(Đòn</a:t>
            </a:r>
            <a:r>
              <a:rPr sz="2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bẩy)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80358" y="908651"/>
            <a:ext cx="3895635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800" b="1" spc="1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Margin</a:t>
            </a:r>
            <a:r>
              <a:rPr sz="2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(Tiền </a:t>
            </a:r>
            <a:r>
              <a:rPr sz="2800" b="1" spc="1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r>
              <a:rPr sz="2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2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1721" y="1421551"/>
            <a:ext cx="4956468" cy="1933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67E8F9"/>
                </a:solidFill>
                <a:cs typeface="DejaVu Sans"/>
              </a:rPr>
              <a:t>Định nghĩa:</a:t>
            </a:r>
            <a:r>
              <a:rPr sz="1200" b="1" spc="-40" dirty="0">
                <a:solidFill>
                  <a:srgbClr val="67E8F9"/>
                </a:solidFill>
                <a:cs typeface="DejaVu Sans"/>
              </a:rPr>
              <a:t> </a:t>
            </a:r>
            <a:r>
              <a:rPr sz="1200" dirty="0">
                <a:solidFill>
                  <a:srgbClr val="CBD5E1"/>
                </a:solidFill>
                <a:cs typeface="DejaVu Sans"/>
              </a:rPr>
              <a:t>Cho phép giao dịch khối lượng lớn </a:t>
            </a:r>
            <a:r>
              <a:rPr sz="1200" dirty="0" err="1">
                <a:solidFill>
                  <a:srgbClr val="CBD5E1"/>
                </a:solidFill>
                <a:cs typeface="DejaVu Sans"/>
              </a:rPr>
              <a:t>hơn</a:t>
            </a:r>
            <a:r>
              <a:rPr sz="1200" dirty="0">
                <a:solidFill>
                  <a:srgbClr val="CBD5E1"/>
                </a:solidFill>
                <a:cs typeface="DejaVu Sans"/>
              </a:rPr>
              <a:t> </a:t>
            </a:r>
            <a:r>
              <a:rPr sz="1200" dirty="0" err="1">
                <a:solidFill>
                  <a:srgbClr val="CBD5E1"/>
                </a:solidFill>
                <a:cs typeface="DejaVu Sans"/>
              </a:rPr>
              <a:t>giới</a:t>
            </a:r>
            <a:r>
              <a:rPr lang="vi-VN" sz="1200" dirty="0">
                <a:solidFill>
                  <a:srgbClr val="CBD5E1"/>
                </a:solidFill>
                <a:cs typeface="DejaVu Sans"/>
              </a:rPr>
              <a:t> hạn tài khoản</a:t>
            </a:r>
            <a:endParaRPr sz="1200" dirty="0">
              <a:solidFill>
                <a:srgbClr val="CBD5E1"/>
              </a:solidFill>
              <a:cs typeface="DejaVu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52248" y="1421551"/>
            <a:ext cx="5160376" cy="1933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64"/>
              </a:lnSpc>
            </a:pPr>
            <a:r>
              <a:rPr sz="1200" b="1" dirty="0">
                <a:solidFill>
                  <a:srgbClr val="FCD34D"/>
                </a:solidFill>
                <a:cs typeface="DejaVu Sans"/>
              </a:rPr>
              <a:t>Định nghĩa:</a:t>
            </a:r>
            <a:r>
              <a:rPr sz="1200" b="1" spc="-40" dirty="0">
                <a:solidFill>
                  <a:srgbClr val="FCD34D"/>
                </a:solidFill>
                <a:cs typeface="DejaVu Sans"/>
              </a:rPr>
              <a:t> </a:t>
            </a:r>
            <a:r>
              <a:rPr sz="1200" dirty="0">
                <a:solidFill>
                  <a:srgbClr val="CBD5E1"/>
                </a:solidFill>
                <a:cs typeface="DejaVu Sans"/>
              </a:rPr>
              <a:t>Số tiền đặt cọc cần thiết để mở và </a:t>
            </a:r>
            <a:r>
              <a:rPr sz="1200" dirty="0" err="1">
                <a:solidFill>
                  <a:srgbClr val="CBD5E1"/>
                </a:solidFill>
                <a:cs typeface="DejaVu Sans"/>
              </a:rPr>
              <a:t>duy</a:t>
            </a:r>
            <a:r>
              <a:rPr sz="1200" dirty="0">
                <a:solidFill>
                  <a:srgbClr val="CBD5E1"/>
                </a:solidFill>
                <a:cs typeface="DejaVu Sans"/>
              </a:rPr>
              <a:t> </a:t>
            </a:r>
            <a:r>
              <a:rPr sz="1200" dirty="0" err="1">
                <a:solidFill>
                  <a:srgbClr val="CBD5E1"/>
                </a:solidFill>
                <a:cs typeface="DejaVu Sans"/>
              </a:rPr>
              <a:t>trì</a:t>
            </a:r>
            <a:r>
              <a:rPr lang="vi-VN" sz="1200" dirty="0">
                <a:solidFill>
                  <a:srgbClr val="CBD5E1"/>
                </a:solidFill>
                <a:cs typeface="DejaVu Sans"/>
              </a:rPr>
              <a:t> </a:t>
            </a:r>
            <a:r>
              <a:rPr lang="en-US" sz="1200" dirty="0" err="1">
                <a:solidFill>
                  <a:srgbClr val="CBD5E1"/>
                </a:solidFill>
                <a:cs typeface="DejaVu Sans"/>
              </a:rPr>
              <a:t>một</a:t>
            </a:r>
            <a:r>
              <a:rPr lang="en-US" sz="1200" dirty="0">
                <a:solidFill>
                  <a:srgbClr val="CBD5E1"/>
                </a:solidFill>
                <a:cs typeface="DejaVu Sans"/>
              </a:rPr>
              <a:t> </a:t>
            </a:r>
            <a:r>
              <a:rPr lang="en-US" sz="1200" dirty="0" err="1">
                <a:solidFill>
                  <a:srgbClr val="CBD5E1"/>
                </a:solidFill>
                <a:cs typeface="DejaVu Sans"/>
              </a:rPr>
              <a:t>vị</a:t>
            </a:r>
            <a:r>
              <a:rPr lang="en-US" sz="1200" dirty="0">
                <a:solidFill>
                  <a:srgbClr val="CBD5E1"/>
                </a:solidFill>
                <a:cs typeface="DejaVu Sans"/>
              </a:rPr>
              <a:t> </a:t>
            </a:r>
            <a:r>
              <a:rPr lang="en-US" sz="1200" dirty="0" err="1">
                <a:solidFill>
                  <a:srgbClr val="CBD5E1"/>
                </a:solidFill>
                <a:cs typeface="DejaVu Sans"/>
              </a:rPr>
              <a:t>thế</a:t>
            </a:r>
            <a:r>
              <a:rPr lang="en-US" sz="1200" dirty="0">
                <a:solidFill>
                  <a:srgbClr val="CBD5E1"/>
                </a:solidFill>
                <a:cs typeface="DejaVu Sans"/>
              </a:rPr>
              <a:t> </a:t>
            </a:r>
            <a:r>
              <a:rPr lang="en-US" sz="1200" dirty="0" err="1">
                <a:solidFill>
                  <a:srgbClr val="CBD5E1"/>
                </a:solidFill>
                <a:cs typeface="DejaVu Sans"/>
              </a:rPr>
              <a:t>giao</a:t>
            </a:r>
            <a:r>
              <a:rPr lang="en-US" sz="1200" dirty="0">
                <a:solidFill>
                  <a:srgbClr val="CBD5E1"/>
                </a:solidFill>
                <a:cs typeface="DejaVu Sans"/>
              </a:rPr>
              <a:t> </a:t>
            </a:r>
            <a:r>
              <a:rPr lang="en-US" sz="1200" dirty="0" err="1">
                <a:solidFill>
                  <a:srgbClr val="CBD5E1"/>
                </a:solidFill>
                <a:cs typeface="DejaVu Sans"/>
              </a:rPr>
              <a:t>dịch</a:t>
            </a:r>
            <a:r>
              <a:rPr lang="en-US" sz="1200" dirty="0">
                <a:solidFill>
                  <a:srgbClr val="CBD5E1"/>
                </a:solidFill>
                <a:cs typeface="DejaVu Sans"/>
              </a:rPr>
              <a:t>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29472" y="1685968"/>
            <a:ext cx="4810464" cy="3911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64"/>
              </a:lnSpc>
            </a:pPr>
            <a:r>
              <a:rPr sz="1200" b="1" dirty="0">
                <a:solidFill>
                  <a:srgbClr val="67E8F9"/>
                </a:solidFill>
                <a:cs typeface="DejaVu Sans"/>
              </a:rPr>
              <a:t>Ý nghĩa:</a:t>
            </a:r>
            <a:r>
              <a:rPr sz="1200" b="1" spc="-40" dirty="0">
                <a:solidFill>
                  <a:srgbClr val="67E8F9"/>
                </a:solidFill>
                <a:cs typeface="DejaVu Sans"/>
              </a:rPr>
              <a:t> </a:t>
            </a:r>
            <a:r>
              <a:rPr sz="1200" dirty="0">
                <a:solidFill>
                  <a:srgbClr val="CBD5E1"/>
                </a:solidFill>
                <a:cs typeface="DejaVu Sans"/>
              </a:rPr>
              <a:t>Là công cụ giúp nhà đầu tư kiểm soát </a:t>
            </a:r>
            <a:r>
              <a:rPr sz="1200" dirty="0" err="1">
                <a:solidFill>
                  <a:srgbClr val="CBD5E1"/>
                </a:solidFill>
                <a:cs typeface="DejaVu Sans"/>
              </a:rPr>
              <a:t>một</a:t>
            </a:r>
            <a:r>
              <a:rPr sz="1200" dirty="0">
                <a:solidFill>
                  <a:srgbClr val="CBD5E1"/>
                </a:solidFill>
                <a:cs typeface="DejaVu Sans"/>
              </a:rPr>
              <a:t> </a:t>
            </a:r>
            <a:r>
              <a:rPr sz="1200" dirty="0" err="1">
                <a:solidFill>
                  <a:srgbClr val="CBD5E1"/>
                </a:solidFill>
                <a:cs typeface="DejaVu Sans"/>
              </a:rPr>
              <a:t>vị</a:t>
            </a:r>
            <a:r>
              <a:rPr lang="vi-VN" sz="1200" dirty="0">
                <a:solidFill>
                  <a:srgbClr val="CBD5E1"/>
                </a:solidFill>
                <a:cs typeface="DejaVu Sans"/>
              </a:rPr>
              <a:t> thế lớn </a:t>
            </a:r>
            <a:r>
              <a:rPr lang="vi-VN" sz="1200" spc="-12" dirty="0">
                <a:solidFill>
                  <a:srgbClr val="CBD5E1"/>
                </a:solidFill>
                <a:cs typeface="DejaVu Sans"/>
              </a:rPr>
              <a:t>trên</a:t>
            </a:r>
            <a:r>
              <a:rPr lang="vi-VN" sz="1200" dirty="0">
                <a:solidFill>
                  <a:srgbClr val="CBD5E1"/>
                </a:solidFill>
                <a:cs typeface="DejaVu Sans"/>
              </a:rPr>
              <a:t> thị trường chỉ với một lượng vốn nhỏ.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52248" y="1665226"/>
            <a:ext cx="4747050" cy="399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64"/>
              </a:lnSpc>
            </a:pPr>
            <a:r>
              <a:rPr sz="1200" b="1" dirty="0">
                <a:solidFill>
                  <a:srgbClr val="FCD34D"/>
                </a:solidFill>
                <a:cs typeface="DejaVu Sans"/>
              </a:rPr>
              <a:t>Ý nghĩa:</a:t>
            </a:r>
            <a:r>
              <a:rPr sz="1200" b="1" spc="-40" dirty="0">
                <a:solidFill>
                  <a:srgbClr val="FCD34D"/>
                </a:solidFill>
                <a:cs typeface="DejaVu Sans"/>
              </a:rPr>
              <a:t> </a:t>
            </a:r>
            <a:r>
              <a:rPr sz="1200" dirty="0">
                <a:solidFill>
                  <a:srgbClr val="CBD5E1"/>
                </a:solidFill>
                <a:cs typeface="DejaVu Sans"/>
              </a:rPr>
              <a:t>Là phần vốn thực tế của bạn được giữ </a:t>
            </a:r>
            <a:r>
              <a:rPr sz="1200" dirty="0" err="1">
                <a:solidFill>
                  <a:srgbClr val="CBD5E1"/>
                </a:solidFill>
                <a:cs typeface="DejaVu Sans"/>
              </a:rPr>
              <a:t>lại</a:t>
            </a:r>
            <a:r>
              <a:rPr sz="1200" dirty="0">
                <a:solidFill>
                  <a:srgbClr val="CBD5E1"/>
                </a:solidFill>
                <a:cs typeface="DejaVu Sans"/>
              </a:rPr>
              <a:t> </a:t>
            </a:r>
            <a:r>
              <a:rPr sz="1200" dirty="0" err="1">
                <a:solidFill>
                  <a:srgbClr val="CBD5E1"/>
                </a:solidFill>
                <a:cs typeface="DejaVu Sans"/>
              </a:rPr>
              <a:t>để</a:t>
            </a:r>
            <a:r>
              <a:rPr lang="vi-VN" sz="1200" dirty="0">
                <a:solidFill>
                  <a:srgbClr val="CBD5E1"/>
                </a:solidFill>
                <a:cs typeface="DejaVu Sans"/>
              </a:rPr>
              <a:t> </a:t>
            </a:r>
            <a:r>
              <a:rPr lang="en-US" sz="1200" dirty="0" err="1">
                <a:solidFill>
                  <a:srgbClr val="CBD5E1"/>
                </a:solidFill>
                <a:cs typeface="DejaVu Sans"/>
              </a:rPr>
              <a:t>đảm</a:t>
            </a:r>
            <a:r>
              <a:rPr lang="en-US" sz="1200" dirty="0">
                <a:solidFill>
                  <a:srgbClr val="CBD5E1"/>
                </a:solidFill>
                <a:cs typeface="DejaVu Sans"/>
              </a:rPr>
              <a:t> </a:t>
            </a:r>
            <a:r>
              <a:rPr lang="en-US" sz="1200" dirty="0" err="1">
                <a:solidFill>
                  <a:srgbClr val="CBD5E1"/>
                </a:solidFill>
                <a:cs typeface="DejaVu Sans"/>
              </a:rPr>
              <a:t>bảo</a:t>
            </a:r>
            <a:r>
              <a:rPr lang="en-US" sz="1200" dirty="0">
                <a:solidFill>
                  <a:srgbClr val="CBD5E1"/>
                </a:solidFill>
                <a:cs typeface="DejaVu Sans"/>
              </a:rPr>
              <a:t> </a:t>
            </a:r>
            <a:r>
              <a:rPr lang="en-US" sz="1200" dirty="0" err="1">
                <a:solidFill>
                  <a:srgbClr val="CBD5E1"/>
                </a:solidFill>
                <a:cs typeface="DejaVu Sans"/>
              </a:rPr>
              <a:t>cho</a:t>
            </a:r>
            <a:r>
              <a:rPr lang="en-US" sz="1200" dirty="0">
                <a:solidFill>
                  <a:srgbClr val="CBD5E1"/>
                </a:solidFill>
                <a:cs typeface="DejaVu Sans"/>
              </a:rPr>
              <a:t> </a:t>
            </a:r>
            <a:r>
              <a:rPr lang="en-US" sz="1200" dirty="0" err="1">
                <a:solidFill>
                  <a:srgbClr val="CBD5E1"/>
                </a:solidFill>
                <a:cs typeface="DejaVu Sans"/>
              </a:rPr>
              <a:t>vị</a:t>
            </a:r>
            <a:r>
              <a:rPr lang="en-US" sz="1200" dirty="0">
                <a:solidFill>
                  <a:srgbClr val="CBD5E1"/>
                </a:solidFill>
                <a:cs typeface="DejaVu Sans"/>
              </a:rPr>
              <a:t> </a:t>
            </a:r>
            <a:r>
              <a:rPr lang="en-US" sz="1200" dirty="0" err="1">
                <a:solidFill>
                  <a:srgbClr val="CBD5E1"/>
                </a:solidFill>
                <a:cs typeface="DejaVu Sans"/>
              </a:rPr>
              <a:t>thế</a:t>
            </a:r>
            <a:r>
              <a:rPr lang="en-US" sz="1200" dirty="0">
                <a:solidFill>
                  <a:srgbClr val="CBD5E1"/>
                </a:solidFill>
                <a:cs typeface="DejaVu Sans"/>
              </a:rPr>
              <a:t> </a:t>
            </a:r>
            <a:r>
              <a:rPr lang="en-US" sz="1200" dirty="0" err="1">
                <a:solidFill>
                  <a:srgbClr val="CBD5E1"/>
                </a:solidFill>
                <a:cs typeface="DejaVu Sans"/>
              </a:rPr>
              <a:t>đang</a:t>
            </a:r>
            <a:r>
              <a:rPr lang="en-US" sz="1200" dirty="0">
                <a:solidFill>
                  <a:srgbClr val="CBD5E1"/>
                </a:solidFill>
                <a:cs typeface="DejaVu Sans"/>
              </a:rPr>
              <a:t> </a:t>
            </a:r>
            <a:r>
              <a:rPr lang="en-US" sz="1200" dirty="0" err="1">
                <a:solidFill>
                  <a:srgbClr val="CBD5E1"/>
                </a:solidFill>
                <a:cs typeface="DejaVu Sans"/>
              </a:rPr>
              <a:t>mở</a:t>
            </a:r>
            <a:r>
              <a:rPr lang="en-US" sz="1200" dirty="0">
                <a:solidFill>
                  <a:srgbClr val="CBD5E1"/>
                </a:solidFill>
                <a:cs typeface="DejaVu Sans"/>
              </a:rPr>
              <a:t>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29472" y="2103329"/>
            <a:ext cx="4493055" cy="194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67E8F9"/>
                </a:solidFill>
                <a:cs typeface="DejaVu Sans"/>
              </a:rPr>
              <a:t>Ví dụ:</a:t>
            </a:r>
            <a:r>
              <a:rPr sz="1200" b="1" spc="-40" dirty="0">
                <a:solidFill>
                  <a:srgbClr val="67E8F9"/>
                </a:solidFill>
                <a:cs typeface="DejaVu Sans"/>
              </a:rPr>
              <a:t> </a:t>
            </a:r>
            <a:r>
              <a:rPr sz="1200" dirty="0">
                <a:solidFill>
                  <a:srgbClr val="CBD5E1"/>
                </a:solidFill>
                <a:cs typeface="DejaVu Sans"/>
              </a:rPr>
              <a:t>Mua 1 </a:t>
            </a:r>
            <a:r>
              <a:rPr sz="1200" spc="-28" dirty="0">
                <a:solidFill>
                  <a:srgbClr val="CBD5E1"/>
                </a:solidFill>
                <a:cs typeface="DejaVu Sans"/>
              </a:rPr>
              <a:t>LOT</a:t>
            </a:r>
            <a:r>
              <a:rPr sz="1200" spc="21" dirty="0">
                <a:solidFill>
                  <a:srgbClr val="CBD5E1"/>
                </a:solidFill>
                <a:cs typeface="DejaVu Sans"/>
              </a:rPr>
              <a:t> </a:t>
            </a:r>
            <a:r>
              <a:rPr sz="1200" dirty="0">
                <a:solidFill>
                  <a:srgbClr val="CBD5E1"/>
                </a:solidFill>
                <a:cs typeface="DejaVu Sans"/>
              </a:rPr>
              <a:t>EURUSD (112,345$) với đòn bẩy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549559" y="2129192"/>
            <a:ext cx="4813813" cy="6049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64"/>
              </a:lnSpc>
            </a:pPr>
            <a:r>
              <a:rPr sz="1200" b="1" dirty="0">
                <a:solidFill>
                  <a:srgbClr val="FCD34D"/>
                </a:solidFill>
                <a:cs typeface="DejaVu Sans"/>
              </a:rPr>
              <a:t>Ví dụ:</a:t>
            </a:r>
            <a:r>
              <a:rPr sz="1200" b="1" spc="-38" dirty="0">
                <a:solidFill>
                  <a:srgbClr val="FCD34D"/>
                </a:solidFill>
                <a:cs typeface="DejaVu Sans"/>
              </a:rPr>
              <a:t> </a:t>
            </a:r>
            <a:r>
              <a:rPr sz="1200" b="1" dirty="0">
                <a:solidFill>
                  <a:srgbClr val="FFFFFF"/>
                </a:solidFill>
                <a:cs typeface="DejaVu Sans"/>
              </a:rPr>
              <a:t>112.3$</a:t>
            </a:r>
            <a:r>
              <a:rPr sz="1200" b="1" spc="-43" dirty="0">
                <a:solidFill>
                  <a:srgbClr val="FFFFFF"/>
                </a:solidFill>
                <a:cs typeface="DejaVu Sans"/>
              </a:rPr>
              <a:t> </a:t>
            </a:r>
            <a:r>
              <a:rPr sz="1200" dirty="0">
                <a:solidFill>
                  <a:srgbClr val="CBD5E1"/>
                </a:solidFill>
                <a:cs typeface="DejaVu Sans"/>
              </a:rPr>
              <a:t>là Margin cần thiết cho giao dịch 1 </a:t>
            </a:r>
            <a:r>
              <a:rPr sz="1200" spc="-28" dirty="0">
                <a:solidFill>
                  <a:srgbClr val="CBD5E1"/>
                </a:solidFill>
                <a:cs typeface="DejaVu Sans"/>
              </a:rPr>
              <a:t>LOT</a:t>
            </a:r>
            <a:r>
              <a:rPr lang="vi-VN" sz="1200" spc="-28" dirty="0">
                <a:solidFill>
                  <a:srgbClr val="CBD5E1"/>
                </a:solidFill>
                <a:cs typeface="DejaVu Sans"/>
              </a:rPr>
              <a:t> </a:t>
            </a:r>
            <a:r>
              <a:rPr lang="en-US" sz="1200" dirty="0">
                <a:solidFill>
                  <a:srgbClr val="CBD5E1"/>
                </a:solidFill>
                <a:cs typeface="DejaVu Sans"/>
              </a:rPr>
              <a:t>EURUSD </a:t>
            </a:r>
            <a:r>
              <a:rPr lang="en-US" sz="1200" dirty="0" err="1">
                <a:solidFill>
                  <a:srgbClr val="CBD5E1"/>
                </a:solidFill>
                <a:cs typeface="DejaVu Sans"/>
              </a:rPr>
              <a:t>với</a:t>
            </a:r>
            <a:r>
              <a:rPr lang="en-US" sz="1200" dirty="0">
                <a:solidFill>
                  <a:srgbClr val="CBD5E1"/>
                </a:solidFill>
                <a:cs typeface="DejaVu Sans"/>
              </a:rPr>
              <a:t> </a:t>
            </a:r>
            <a:r>
              <a:rPr lang="en-US" sz="1200" dirty="0" err="1">
                <a:solidFill>
                  <a:srgbClr val="CBD5E1"/>
                </a:solidFill>
                <a:cs typeface="DejaVu Sans"/>
              </a:rPr>
              <a:t>đòn</a:t>
            </a:r>
            <a:r>
              <a:rPr lang="en-US" sz="1200" dirty="0">
                <a:solidFill>
                  <a:srgbClr val="CBD5E1"/>
                </a:solidFill>
                <a:cs typeface="DejaVu Sans"/>
              </a:rPr>
              <a:t> </a:t>
            </a:r>
            <a:r>
              <a:rPr lang="en-US" sz="1200" dirty="0" err="1">
                <a:solidFill>
                  <a:srgbClr val="CBD5E1"/>
                </a:solidFill>
                <a:cs typeface="DejaVu Sans"/>
              </a:rPr>
              <a:t>bẩy</a:t>
            </a:r>
            <a:r>
              <a:rPr lang="en-US" sz="1200" dirty="0">
                <a:solidFill>
                  <a:srgbClr val="CBD5E1"/>
                </a:solidFill>
                <a:cs typeface="DejaVu Sans"/>
              </a:rPr>
              <a:t> 1:1000.</a:t>
            </a:r>
          </a:p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endParaRPr sz="1200" spc="-28" dirty="0">
              <a:solidFill>
                <a:srgbClr val="CBD5E1"/>
              </a:solidFill>
              <a:cs typeface="DejaVu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9472" y="2360504"/>
            <a:ext cx="2802665" cy="194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BD5E1"/>
                </a:solidFill>
                <a:cs typeface="DejaVu Sans"/>
              </a:rPr>
              <a:t>1:1000 chỉ cần </a:t>
            </a:r>
            <a:r>
              <a:rPr sz="1200" spc="-51" dirty="0">
                <a:solidFill>
                  <a:srgbClr val="CBD5E1"/>
                </a:solidFill>
                <a:cs typeface="DejaVu Sans"/>
              </a:rPr>
              <a:t>ký</a:t>
            </a:r>
            <a:r>
              <a:rPr sz="1200" spc="46" dirty="0">
                <a:solidFill>
                  <a:srgbClr val="CBD5E1"/>
                </a:solidFill>
                <a:cs typeface="DejaVu Sans"/>
              </a:rPr>
              <a:t> </a:t>
            </a:r>
            <a:r>
              <a:rPr sz="1200" dirty="0">
                <a:solidFill>
                  <a:srgbClr val="CBD5E1"/>
                </a:solidFill>
                <a:cs typeface="DejaVu Sans"/>
              </a:rPr>
              <a:t>quỹ </a:t>
            </a:r>
            <a:r>
              <a:rPr sz="1200" b="1" dirty="0">
                <a:solidFill>
                  <a:srgbClr val="FFFFFF"/>
                </a:solidFill>
                <a:cs typeface="DejaVu Sans"/>
              </a:rPr>
              <a:t>112.3$</a:t>
            </a:r>
            <a:r>
              <a:rPr sz="1200" dirty="0">
                <a:solidFill>
                  <a:srgbClr val="CBD5E1"/>
                </a:solidFill>
                <a:cs typeface="DejaVu Sans"/>
              </a:rPr>
              <a:t>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39416" y="2730082"/>
            <a:ext cx="4544690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64"/>
              </a:lnSpc>
            </a:pPr>
            <a:r>
              <a:rPr sz="1400" b="1" dirty="0">
                <a:solidFill>
                  <a:srgbClr val="FCA5A5"/>
                </a:solidFill>
                <a:cs typeface="DejaVu Sans"/>
              </a:rPr>
              <a:t>Lưu ý:</a:t>
            </a:r>
            <a:r>
              <a:rPr sz="1400" b="1" spc="-40" dirty="0">
                <a:solidFill>
                  <a:srgbClr val="FCA5A5"/>
                </a:solidFill>
                <a:cs typeface="DejaVu Sans"/>
              </a:rPr>
              <a:t> </a:t>
            </a:r>
            <a:r>
              <a:rPr sz="1400" dirty="0">
                <a:solidFill>
                  <a:srgbClr val="CBD5E1"/>
                </a:solidFill>
                <a:cs typeface="DejaVu Sans"/>
              </a:rPr>
              <a:t>Đòn bẩy cao tối đa hóa lợi nhuận </a:t>
            </a:r>
            <a:r>
              <a:rPr sz="1400" dirty="0" err="1">
                <a:solidFill>
                  <a:srgbClr val="CBD5E1"/>
                </a:solidFill>
                <a:cs typeface="DejaVu Sans"/>
              </a:rPr>
              <a:t>tiềm</a:t>
            </a:r>
            <a:r>
              <a:rPr sz="1400" dirty="0">
                <a:solidFill>
                  <a:srgbClr val="CBD5E1"/>
                </a:solidFill>
                <a:cs typeface="DejaVu Sans"/>
              </a:rPr>
              <a:t> </a:t>
            </a:r>
            <a:r>
              <a:rPr sz="1400" dirty="0" err="1">
                <a:solidFill>
                  <a:srgbClr val="CBD5E1"/>
                </a:solidFill>
                <a:cs typeface="DejaVu Sans"/>
              </a:rPr>
              <a:t>năng</a:t>
            </a:r>
            <a:r>
              <a:rPr lang="vi-VN" sz="1400" dirty="0">
                <a:solidFill>
                  <a:srgbClr val="CBD5E1"/>
                </a:solidFill>
                <a:cs typeface="DejaVu Sans"/>
              </a:rPr>
              <a:t> nhưng cũng khuếch đại rủi </a:t>
            </a:r>
            <a:r>
              <a:rPr lang="vi-VN" sz="1400" spc="-31" dirty="0">
                <a:solidFill>
                  <a:srgbClr val="CBD5E1"/>
                </a:solidFill>
                <a:cs typeface="DejaVu Sans"/>
              </a:rPr>
              <a:t>ro</a:t>
            </a:r>
            <a:r>
              <a:rPr lang="vi-VN" sz="1400" spc="25" dirty="0">
                <a:solidFill>
                  <a:srgbClr val="CBD5E1"/>
                </a:solidFill>
                <a:cs typeface="DejaVu Sans"/>
              </a:rPr>
              <a:t> </a:t>
            </a:r>
            <a:r>
              <a:rPr lang="vi-VN" sz="1400" dirty="0">
                <a:solidFill>
                  <a:srgbClr val="CBD5E1"/>
                </a:solidFill>
                <a:cs typeface="DejaVu Sans"/>
              </a:rPr>
              <a:t>tương ứng.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625514" y="2851849"/>
            <a:ext cx="4840714" cy="3985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DE047"/>
                </a:solidFill>
                <a:cs typeface="DejaVu Sans"/>
              </a:rPr>
              <a:t>Lưu ý:</a:t>
            </a:r>
            <a:r>
              <a:rPr sz="1200" b="1" spc="-40" dirty="0">
                <a:solidFill>
                  <a:srgbClr val="FDE047"/>
                </a:solidFill>
                <a:cs typeface="DejaVu Sans"/>
              </a:rPr>
              <a:t> </a:t>
            </a:r>
            <a:r>
              <a:rPr sz="1200" dirty="0">
                <a:solidFill>
                  <a:srgbClr val="CBD5E1"/>
                </a:solidFill>
                <a:cs typeface="DejaVu Sans"/>
              </a:rPr>
              <a:t>Nếu thị trường đi ngược dự đoán, </a:t>
            </a:r>
            <a:r>
              <a:rPr sz="1200" dirty="0" err="1">
                <a:solidFill>
                  <a:srgbClr val="CBD5E1"/>
                </a:solidFill>
                <a:cs typeface="DejaVu Sans"/>
              </a:rPr>
              <a:t>tài</a:t>
            </a:r>
            <a:r>
              <a:rPr sz="1200" dirty="0">
                <a:solidFill>
                  <a:srgbClr val="CBD5E1"/>
                </a:solidFill>
                <a:cs typeface="DejaVu Sans"/>
              </a:rPr>
              <a:t> </a:t>
            </a:r>
            <a:r>
              <a:rPr sz="1200" dirty="0" err="1">
                <a:solidFill>
                  <a:srgbClr val="CBD5E1"/>
                </a:solidFill>
                <a:cs typeface="DejaVu Sans"/>
              </a:rPr>
              <a:t>khoản</a:t>
            </a:r>
            <a:r>
              <a:rPr lang="vi-VN" sz="1200" dirty="0">
                <a:solidFill>
                  <a:srgbClr val="CBD5E1"/>
                </a:solidFill>
                <a:cs typeface="DejaVu Sans"/>
              </a:rPr>
              <a:t> </a:t>
            </a:r>
            <a:r>
              <a:rPr sz="1200" dirty="0" err="1">
                <a:solidFill>
                  <a:srgbClr val="CBD5E1"/>
                </a:solidFill>
                <a:cs typeface="DejaVu Sans"/>
              </a:rPr>
              <a:t>không</a:t>
            </a:r>
            <a:r>
              <a:rPr sz="1200" dirty="0">
                <a:solidFill>
                  <a:srgbClr val="CBD5E1"/>
                </a:solidFill>
                <a:cs typeface="DejaVu Sans"/>
              </a:rPr>
              <a:t> đủ Margin có thể dẫn đến Margin Call </a:t>
            </a:r>
            <a:r>
              <a:rPr sz="1200" dirty="0" err="1">
                <a:solidFill>
                  <a:srgbClr val="CBD5E1"/>
                </a:solidFill>
                <a:cs typeface="DejaVu Sans"/>
              </a:rPr>
              <a:t>hoặc</a:t>
            </a:r>
            <a:r>
              <a:rPr sz="1200" dirty="0">
                <a:solidFill>
                  <a:srgbClr val="CBD5E1"/>
                </a:solidFill>
                <a:cs typeface="DejaVu Sans"/>
              </a:rPr>
              <a:t> </a:t>
            </a:r>
            <a:r>
              <a:rPr sz="1200" dirty="0" err="1">
                <a:solidFill>
                  <a:srgbClr val="CBD5E1"/>
                </a:solidFill>
                <a:cs typeface="DejaVu Sans"/>
              </a:rPr>
              <a:t>Sto</a:t>
            </a:r>
            <a:r>
              <a:rPr lang="vi-VN" sz="1200" dirty="0">
                <a:solidFill>
                  <a:srgbClr val="CBD5E1"/>
                </a:solidFill>
                <a:cs typeface="DejaVu Sans"/>
              </a:rPr>
              <a:t>p </a:t>
            </a:r>
            <a:r>
              <a:rPr sz="1200" dirty="0">
                <a:solidFill>
                  <a:srgbClr val="CBD5E1"/>
                </a:solidFill>
                <a:cs typeface="DejaVu Sans"/>
              </a:rPr>
              <a:t>Out.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612957" y="4172183"/>
            <a:ext cx="1440475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 </a:t>
            </a:r>
            <a:r>
              <a:rPr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ƯU</a:t>
            </a:r>
            <a:r>
              <a:rPr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VỐN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222527" y="4172183"/>
            <a:ext cx="1898973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227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b="1" spc="24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RỦI RO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813170" y="4172183"/>
            <a:ext cx="2653058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TIỀM </a:t>
            </a:r>
            <a:r>
              <a:rPr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LỢI </a:t>
            </a:r>
            <a:r>
              <a:rPr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NHUẬN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5085184"/>
          </a:xfrm>
          <a:prstGeom prst="rect">
            <a:avLst/>
          </a:prstGeom>
          <a:blipFill>
            <a:blip r:embed="rId2" cstate="print"/>
            <a:stretch>
              <a:fillRect b="-34862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6249" y="357892"/>
            <a:ext cx="6354677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93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MARGIN</a:t>
            </a:r>
            <a:r>
              <a:rPr sz="3200" b="1" spc="86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92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</a:t>
            </a:r>
            <a:r>
              <a:rPr sz="3200" b="1" spc="8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-112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sz="3200" b="1" spc="28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8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STOP-OUT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08037" y="1267295"/>
            <a:ext cx="27277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400" b="1" spc="11" dirty="0">
                <a:solidFill>
                  <a:srgbClr val="FBBF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MARGIN</a:t>
            </a:r>
            <a:r>
              <a:rPr sz="2400" b="1" dirty="0">
                <a:solidFill>
                  <a:srgbClr val="FBBF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10" dirty="0">
                <a:solidFill>
                  <a:srgbClr val="FBBF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55779" y="1267295"/>
            <a:ext cx="1623208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871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STOP-OUT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9045" y="1775138"/>
            <a:ext cx="5136066" cy="1008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CD3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Cảnh báo khi tài khoản 'sắp </a:t>
            </a:r>
            <a:r>
              <a:rPr sz="1400" b="1" spc="-11" dirty="0">
                <a:solidFill>
                  <a:srgbClr val="FCD3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cháy':</a:t>
            </a:r>
            <a:r>
              <a:rPr sz="1400" b="1" spc="-33" dirty="0">
                <a:solidFill>
                  <a:srgbClr val="FCD3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 cảnh báo từ nhà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môi giới khi mức </a:t>
            </a:r>
            <a:r>
              <a:rPr sz="1400" spc="-51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r>
              <a:rPr sz="1400" spc="46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 của tài khoản giảm xuống dưới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 tỷ lệ nhất định, cho thấy tài khoản đang gặp rủi </a:t>
            </a:r>
            <a:r>
              <a:rPr sz="1400" spc="-31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lớn.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46787" y="1775138"/>
            <a:ext cx="5149302" cy="1008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CA5A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Hành động đóng lệnh tự động:</a:t>
            </a:r>
            <a:r>
              <a:rPr sz="1400" b="1" spc="-40" dirty="0">
                <a:solidFill>
                  <a:srgbClr val="FCA5A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 cơ chế tự động đóng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lệnh đang thua lỗ khi mức </a:t>
            </a:r>
            <a:r>
              <a:rPr sz="1400" spc="-51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r>
              <a:rPr sz="1400" spc="46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 giảm xuống dưới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 ngưỡng nguy hiểm, nhằm ngăn tài khoản rơi vào số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âm.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99045" y="2927663"/>
            <a:ext cx="512806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CD3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Hành động cần thiết:</a:t>
            </a:r>
            <a:r>
              <a:rPr sz="1400" b="1" spc="-40" dirty="0">
                <a:solidFill>
                  <a:srgbClr val="FCD3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Bạn cần nạp thêm tiền hoặc đóng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12879" y="3061013"/>
            <a:ext cx="714007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 dụ: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99045" y="3184838"/>
            <a:ext cx="3362877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bớt lệnh để tránh bị thanh lý tự động.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819303" y="3347518"/>
            <a:ext cx="137828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400" spc="-56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sz="1400" spc="4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khoản: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spc="-17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200$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19303" y="3557068"/>
            <a:ext cx="214952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400" spc="-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56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r>
              <a:rPr sz="1400" spc="34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(Margin):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spc="-17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50$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612879" y="3776143"/>
            <a:ext cx="4884930" cy="850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6424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400" spc="-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đang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2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âm: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spc="-15" dirty="0">
                <a:solidFill>
                  <a:srgbClr val="F871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-175$</a:t>
            </a:r>
            <a:r>
              <a:rPr sz="1400" b="1" spc="-46" dirty="0">
                <a:solidFill>
                  <a:srgbClr val="F871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4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(Vốn</a:t>
            </a:r>
            <a:r>
              <a:rPr sz="1400" spc="-1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4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còn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lại: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25$)</a:t>
            </a:r>
          </a:p>
          <a:p>
            <a:pPr marL="206424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400" spc="-18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Stop-Out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4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sàn: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spc="-17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50%</a:t>
            </a:r>
            <a:r>
              <a:rPr sz="1400" b="1" spc="-5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8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Margin</a:t>
            </a:r>
          </a:p>
          <a:p>
            <a:pPr marL="206424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400" b="1" spc="-14" dirty="0">
                <a:solidFill>
                  <a:srgbClr val="F871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Kích</a:t>
            </a:r>
            <a:r>
              <a:rPr sz="1400" b="1" spc="-11" dirty="0">
                <a:solidFill>
                  <a:srgbClr val="F871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spc="-17" dirty="0">
                <a:solidFill>
                  <a:srgbClr val="F871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sz="1400" b="1" dirty="0">
                <a:solidFill>
                  <a:srgbClr val="F871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spc="-15" dirty="0">
                <a:solidFill>
                  <a:srgbClr val="F871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Stop-Out:</a:t>
            </a:r>
            <a:r>
              <a:rPr sz="1400" b="1" spc="-37" dirty="0">
                <a:solidFill>
                  <a:srgbClr val="F871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vốn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4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còn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25$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4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(bằng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50% của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4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50$),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400" spc="-12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sz="1400" spc="-1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2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sz="1400" spc="-1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tự</a:t>
            </a:r>
            <a:r>
              <a:rPr sz="1400" spc="-14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5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đóng.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820994" y="6605822"/>
            <a:ext cx="1352717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9CA3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 dung cung cấp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15D6EF-C1AE-F44A-8024-FBEE7D1BE5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" y="4960941"/>
            <a:ext cx="12192000" cy="18970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blipFill>
            <a:blip r:embed="rId2" cstate="print"/>
            <a:stretch>
              <a:fillRect b="-50220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56877"/>
            <a:ext cx="6935795" cy="418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spc="2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sz="2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7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sz="28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8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sz="28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sz="2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8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sz="2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sz="2800" b="1" spc="12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9542" y="1251328"/>
            <a:ext cx="3429467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22D3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TRƯỢT</a:t>
            </a:r>
            <a:r>
              <a:rPr sz="2000" b="1" dirty="0">
                <a:solidFill>
                  <a:srgbClr val="22D3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GIÁ (SLIPPAGE)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14646" y="1245662"/>
            <a:ext cx="2113819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BBF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GIÃN</a:t>
            </a:r>
            <a:r>
              <a:rPr sz="2000" b="1" dirty="0">
                <a:solidFill>
                  <a:srgbClr val="FBBF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11" dirty="0">
                <a:solidFill>
                  <a:srgbClr val="FBBF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SPREAD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3734" y="1637141"/>
            <a:ext cx="5150210" cy="816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 nghĩa:</a:t>
            </a:r>
            <a:r>
              <a:rPr sz="1400" b="1" spc="-43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 hiện tượng lệnh của bạn được khớp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ở</a:t>
            </a:r>
            <a:r>
              <a:rPr sz="1400" spc="1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 mức giá khác so với mức giá bạn mong muốn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tại thời điểm đặt lệnh.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22540" y="1637141"/>
            <a:ext cx="4896225" cy="816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 nghĩa:</a:t>
            </a:r>
            <a:r>
              <a:rPr sz="1400" b="1" spc="-43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 hiện tượng khoảng cách giữa giá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Bid và giá Ask đột ngột </a:t>
            </a:r>
            <a:r>
              <a:rPr sz="1400" spc="1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rộng lớn hơn bình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thường.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7003" y="2511203"/>
            <a:ext cx="1662446" cy="213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 nhân: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22540" y="2511203"/>
            <a:ext cx="1662446" cy="213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 nhân: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00765" y="2861661"/>
            <a:ext cx="4049078" cy="525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 động thị trường cao (khi có tin tức).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Thanh khoản thấp.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90319" y="2839211"/>
            <a:ext cx="4840032" cy="816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8663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400" spc="-18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</a:t>
            </a:r>
            <a:r>
              <a:rPr sz="1400" spc="28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tức kinh tế quan trọng.</a:t>
            </a:r>
          </a:p>
          <a:p>
            <a:pPr marL="258663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Thanh khoản thị trường giảm (cuối tuần, ngày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lễ).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00765" y="3440923"/>
            <a:ext cx="3877714" cy="213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 trễ mạng hoặc tốc độ thực thi lệnh.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888088" y="3637760"/>
            <a:ext cx="2927616" cy="213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 kiện địa chính trị bất ngờ.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29901" y="3941290"/>
            <a:ext cx="5116010" cy="213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spc="-93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</a:t>
            </a:r>
            <a:r>
              <a:rPr sz="1400" b="1" spc="-513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4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động:</a:t>
            </a:r>
            <a:r>
              <a:rPr sz="1400" b="1" spc="-43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 thể dẫn đến lợi nhuận thấp hơn hoặc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29901" y="4236565"/>
            <a:ext cx="2426834" cy="213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thua lỗ lớn hơn dự kiến.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22540" y="3941290"/>
            <a:ext cx="5147043" cy="213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spc="-93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</a:t>
            </a:r>
            <a:r>
              <a:rPr sz="1400" b="1" spc="-513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400" b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động:</a:t>
            </a:r>
            <a:r>
              <a:rPr sz="1400" b="1" spc="-43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Tăng chi phí giao dịch, có thể khiến lệnh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522540" y="4236565"/>
            <a:ext cx="4780009" cy="213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bị đóng sớm (chạm Stop Loss) hoặc Margin</a:t>
            </a:r>
            <a:r>
              <a:rPr sz="1400" spc="1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925654" y="5828260"/>
            <a:ext cx="2084681" cy="1889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3835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 ĐỘNG CAO</a:t>
            </a:r>
            <a:endParaRPr lang="vi-VN" sz="12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71556" y="11605431"/>
            <a:ext cx="400217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 dung cung cấp từ ﬁle: FOREX </a:t>
            </a:r>
            <a:r>
              <a:rPr sz="1000" spc="-58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sz="1000" spc="67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KHÁI NIỆM CƠ BẢN.pdf</a:t>
            </a:r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C366BF37-E2E4-1141-B90A-0550813B05F4}"/>
              </a:ext>
            </a:extLst>
          </p:cNvPr>
          <p:cNvSpPr txBox="1"/>
          <p:nvPr/>
        </p:nvSpPr>
        <p:spPr>
          <a:xfrm>
            <a:off x="6925654" y="5208888"/>
            <a:ext cx="2084681" cy="1889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RỦI RO THỊ TRƯỜNG</a:t>
            </a:r>
          </a:p>
        </p:txBody>
      </p:sp>
      <p:sp>
        <p:nvSpPr>
          <p:cNvPr id="21" name="object 18">
            <a:extLst>
              <a:ext uri="{FF2B5EF4-FFF2-40B4-BE49-F238E27FC236}">
                <a16:creationId xmlns:a16="http://schemas.microsoft.com/office/drawing/2014/main" id="{7C1B80D4-B115-914B-9670-C777F1A4D343}"/>
              </a:ext>
            </a:extLst>
          </p:cNvPr>
          <p:cNvSpPr txBox="1"/>
          <p:nvPr/>
        </p:nvSpPr>
        <p:spPr>
          <a:xfrm>
            <a:off x="6925653" y="6388227"/>
            <a:ext cx="2084681" cy="1889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3835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 </a:t>
            </a:r>
            <a:r>
              <a:rPr sz="1200" b="1" spc="-214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sz="1200" b="1" spc="20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0902" y="1909930"/>
            <a:ext cx="10802384" cy="78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CẢM </a:t>
            </a:r>
            <a:r>
              <a:rPr sz="5050" b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ƠN</a:t>
            </a:r>
            <a:r>
              <a:rPr sz="50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BẠN ĐÃ LẮNG NGHE!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79576" y="2708920"/>
            <a:ext cx="8500349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spc="15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Chúc</a:t>
            </a:r>
            <a:r>
              <a:rPr sz="300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15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bạn</a:t>
            </a:r>
            <a:r>
              <a:rPr sz="300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12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sz="300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14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sz="300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sz="3000" spc="33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11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sz="300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12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sz="3000" spc="1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31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Forex!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729954" y="4707330"/>
            <a:ext cx="1764083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b="1" spc="-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17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10968" y="4707330"/>
            <a:ext cx="1122253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b="1" spc="-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17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NỐI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996980" y="4707330"/>
            <a:ext cx="1470483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b="1" spc="-17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1632</Words>
  <Application>Microsoft Office PowerPoint</Application>
  <PresentationFormat>Widescreen</PresentationFormat>
  <Paragraphs>200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DejaVu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LÂN ĐOÀN</dc:creator>
  <cp:lastModifiedBy>LÂN ĐOÀN</cp:lastModifiedBy>
  <cp:revision>1</cp:revision>
  <dcterms:created xsi:type="dcterms:W3CDTF">2026-03-19T07:53:33Z</dcterms:created>
  <dcterms:modified xsi:type="dcterms:W3CDTF">2026-03-19T07:54:33Z</dcterms:modified>
</cp:coreProperties>
</file>